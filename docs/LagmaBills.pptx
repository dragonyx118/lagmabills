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Work Sans" charset="1" panose="00000000000000000000"/>
      <p:regular r:id="rId18"/>
    </p:embeddedFont>
    <p:embeddedFont>
      <p:font typeface="Fraunces Bold" charset="1" panose="00000000000000000000"/>
      <p:regular r:id="rId19"/>
    </p:embeddedFont>
    <p:embeddedFont>
      <p:font typeface="Fraunces" charset="1" panose="00000000000000000000"/>
      <p:regular r:id="rId20"/>
    </p:embeddedFont>
    <p:embeddedFont>
      <p:font typeface="More Sugar" charset="1" panose="00000000000000000000"/>
      <p:regular r:id="rId21"/>
    </p:embeddedFont>
    <p:embeddedFont>
      <p:font typeface="Work Sans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image6.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jpe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jpeg" Type="http://schemas.openxmlformats.org/officeDocument/2006/relationships/image"/><Relationship Id="rId5" Target="../media/image2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0">
            <a:off x="10426281" y="1669319"/>
            <a:ext cx="6088179" cy="6998420"/>
            <a:chOff x="0" y="0"/>
            <a:chExt cx="707084" cy="812800"/>
          </a:xfrm>
        </p:grpSpPr>
        <p:sp>
          <p:nvSpPr>
            <p:cNvPr name="Freeform 10" id="10"/>
            <p:cNvSpPr/>
            <p:nvPr/>
          </p:nvSpPr>
          <p:spPr>
            <a:xfrm flipH="false" flipV="false" rot="0">
              <a:off x="0" y="0"/>
              <a:ext cx="707084" cy="812800"/>
            </a:xfrm>
            <a:custGeom>
              <a:avLst/>
              <a:gdLst/>
              <a:ahLst/>
              <a:cxnLst/>
              <a:rect r="r" b="b" t="t" l="l"/>
              <a:pathLst>
                <a:path h="812800" w="707084">
                  <a:moveTo>
                    <a:pt x="16531" y="0"/>
                  </a:moveTo>
                  <a:lnTo>
                    <a:pt x="690553" y="0"/>
                  </a:lnTo>
                  <a:cubicBezTo>
                    <a:pt x="699683" y="0"/>
                    <a:pt x="707084" y="7401"/>
                    <a:pt x="707084" y="16531"/>
                  </a:cubicBezTo>
                  <a:lnTo>
                    <a:pt x="707084" y="796269"/>
                  </a:lnTo>
                  <a:cubicBezTo>
                    <a:pt x="707084" y="800653"/>
                    <a:pt x="705342" y="804858"/>
                    <a:pt x="702242" y="807958"/>
                  </a:cubicBezTo>
                  <a:cubicBezTo>
                    <a:pt x="699142" y="811058"/>
                    <a:pt x="694937" y="812800"/>
                    <a:pt x="690553" y="812800"/>
                  </a:cubicBezTo>
                  <a:lnTo>
                    <a:pt x="16531" y="812800"/>
                  </a:lnTo>
                  <a:cubicBezTo>
                    <a:pt x="12147" y="812800"/>
                    <a:pt x="7942" y="811058"/>
                    <a:pt x="4842" y="807958"/>
                  </a:cubicBezTo>
                  <a:cubicBezTo>
                    <a:pt x="1742" y="804858"/>
                    <a:pt x="0" y="800653"/>
                    <a:pt x="0" y="796269"/>
                  </a:cubicBezTo>
                  <a:lnTo>
                    <a:pt x="0" y="16531"/>
                  </a:lnTo>
                  <a:cubicBezTo>
                    <a:pt x="0" y="12147"/>
                    <a:pt x="1742" y="7942"/>
                    <a:pt x="4842" y="4842"/>
                  </a:cubicBezTo>
                  <a:cubicBezTo>
                    <a:pt x="7942" y="1742"/>
                    <a:pt x="12147" y="0"/>
                    <a:pt x="16531" y="0"/>
                  </a:cubicBezTo>
                  <a:close/>
                </a:path>
              </a:pathLst>
            </a:custGeom>
            <a:blipFill>
              <a:blip r:embed="rId4"/>
              <a:stretch>
                <a:fillRect l="-60855" t="-117076" r="-41268" b="-173668"/>
              </a:stretch>
            </a:blipFill>
          </p:spPr>
        </p:sp>
      </p:grpSp>
      <p:grpSp>
        <p:nvGrpSpPr>
          <p:cNvPr name="Group 11" id="11"/>
          <p:cNvGrpSpPr/>
          <p:nvPr/>
        </p:nvGrpSpPr>
        <p:grpSpPr>
          <a:xfrm rot="0">
            <a:off x="1752243" y="7626794"/>
            <a:ext cx="6373102" cy="648752"/>
            <a:chOff x="0" y="0"/>
            <a:chExt cx="1886021" cy="191988"/>
          </a:xfrm>
        </p:grpSpPr>
        <p:sp>
          <p:nvSpPr>
            <p:cNvPr name="Freeform 12" id="12"/>
            <p:cNvSpPr/>
            <p:nvPr/>
          </p:nvSpPr>
          <p:spPr>
            <a:xfrm flipH="false" flipV="false" rot="0">
              <a:off x="0" y="0"/>
              <a:ext cx="1886022" cy="191988"/>
            </a:xfrm>
            <a:custGeom>
              <a:avLst/>
              <a:gdLst/>
              <a:ahLst/>
              <a:cxnLst/>
              <a:rect r="r" b="b" t="t" l="l"/>
              <a:pathLst>
                <a:path h="191988" w="1886022">
                  <a:moveTo>
                    <a:pt x="15792" y="0"/>
                  </a:moveTo>
                  <a:lnTo>
                    <a:pt x="1870229" y="0"/>
                  </a:lnTo>
                  <a:cubicBezTo>
                    <a:pt x="1878951" y="0"/>
                    <a:pt x="1886022" y="7070"/>
                    <a:pt x="1886022" y="15792"/>
                  </a:cubicBezTo>
                  <a:lnTo>
                    <a:pt x="1886022" y="176196"/>
                  </a:lnTo>
                  <a:cubicBezTo>
                    <a:pt x="1886022" y="184918"/>
                    <a:pt x="1878951" y="191988"/>
                    <a:pt x="1870229" y="191988"/>
                  </a:cubicBezTo>
                  <a:lnTo>
                    <a:pt x="15792" y="191988"/>
                  </a:lnTo>
                  <a:cubicBezTo>
                    <a:pt x="7070" y="191988"/>
                    <a:pt x="0" y="184918"/>
                    <a:pt x="0" y="176196"/>
                  </a:cubicBezTo>
                  <a:lnTo>
                    <a:pt x="0" y="15792"/>
                  </a:lnTo>
                  <a:cubicBezTo>
                    <a:pt x="0" y="7070"/>
                    <a:pt x="7070" y="0"/>
                    <a:pt x="15792" y="0"/>
                  </a:cubicBezTo>
                  <a:close/>
                </a:path>
              </a:pathLst>
            </a:custGeom>
            <a:solidFill>
              <a:srgbClr val="022D66"/>
            </a:solidFill>
          </p:spPr>
        </p:sp>
        <p:sp>
          <p:nvSpPr>
            <p:cNvPr name="TextBox 13" id="13"/>
            <p:cNvSpPr txBox="true"/>
            <p:nvPr/>
          </p:nvSpPr>
          <p:spPr>
            <a:xfrm>
              <a:off x="0" y="28575"/>
              <a:ext cx="1886021" cy="163413"/>
            </a:xfrm>
            <a:prstGeom prst="rect">
              <a:avLst/>
            </a:prstGeom>
          </p:spPr>
          <p:txBody>
            <a:bodyPr anchor="ctr" rtlCol="false" tIns="50800" lIns="50800" bIns="50800" rIns="50800"/>
            <a:lstStyle/>
            <a:p>
              <a:pPr algn="ctr">
                <a:lnSpc>
                  <a:spcPts val="1699"/>
                </a:lnSpc>
              </a:pPr>
            </a:p>
          </p:txBody>
        </p:sp>
      </p:grpSp>
      <p:grpSp>
        <p:nvGrpSpPr>
          <p:cNvPr name="Group 14" id="14"/>
          <p:cNvGrpSpPr/>
          <p:nvPr/>
        </p:nvGrpSpPr>
        <p:grpSpPr>
          <a:xfrm rot="0">
            <a:off x="9675181" y="6497156"/>
            <a:ext cx="1772997" cy="1993819"/>
            <a:chOff x="0" y="0"/>
            <a:chExt cx="466962" cy="525121"/>
          </a:xfrm>
        </p:grpSpPr>
        <p:sp>
          <p:nvSpPr>
            <p:cNvPr name="Freeform 15" id="15"/>
            <p:cNvSpPr/>
            <p:nvPr/>
          </p:nvSpPr>
          <p:spPr>
            <a:xfrm flipH="false" flipV="false" rot="0">
              <a:off x="0" y="0"/>
              <a:ext cx="466962" cy="525121"/>
            </a:xfrm>
            <a:custGeom>
              <a:avLst/>
              <a:gdLst/>
              <a:ahLst/>
              <a:cxnLst/>
              <a:rect r="r" b="b" t="t" l="l"/>
              <a:pathLst>
                <a:path h="525121" w="466962">
                  <a:moveTo>
                    <a:pt x="56765" y="0"/>
                  </a:moveTo>
                  <a:lnTo>
                    <a:pt x="410197" y="0"/>
                  </a:lnTo>
                  <a:cubicBezTo>
                    <a:pt x="425252" y="0"/>
                    <a:pt x="439690" y="5981"/>
                    <a:pt x="450336" y="16626"/>
                  </a:cubicBezTo>
                  <a:cubicBezTo>
                    <a:pt x="460982" y="27272"/>
                    <a:pt x="466962" y="41710"/>
                    <a:pt x="466962" y="56765"/>
                  </a:cubicBezTo>
                  <a:lnTo>
                    <a:pt x="466962" y="468356"/>
                  </a:lnTo>
                  <a:cubicBezTo>
                    <a:pt x="466962" y="483411"/>
                    <a:pt x="460982" y="497849"/>
                    <a:pt x="450336" y="508495"/>
                  </a:cubicBezTo>
                  <a:cubicBezTo>
                    <a:pt x="439690" y="519140"/>
                    <a:pt x="425252" y="525121"/>
                    <a:pt x="410197" y="525121"/>
                  </a:cubicBezTo>
                  <a:lnTo>
                    <a:pt x="56765" y="525121"/>
                  </a:lnTo>
                  <a:cubicBezTo>
                    <a:pt x="41710" y="525121"/>
                    <a:pt x="27272" y="519140"/>
                    <a:pt x="16626" y="508495"/>
                  </a:cubicBezTo>
                  <a:cubicBezTo>
                    <a:pt x="5981" y="497849"/>
                    <a:pt x="0" y="483411"/>
                    <a:pt x="0" y="468356"/>
                  </a:cubicBezTo>
                  <a:lnTo>
                    <a:pt x="0" y="56765"/>
                  </a:lnTo>
                  <a:cubicBezTo>
                    <a:pt x="0" y="41710"/>
                    <a:pt x="5981" y="27272"/>
                    <a:pt x="16626" y="16626"/>
                  </a:cubicBezTo>
                  <a:cubicBezTo>
                    <a:pt x="27272" y="5981"/>
                    <a:pt x="41710" y="0"/>
                    <a:pt x="56765" y="0"/>
                  </a:cubicBezTo>
                  <a:close/>
                </a:path>
              </a:pathLst>
            </a:custGeom>
            <a:solidFill>
              <a:srgbClr val="FFFFFF"/>
            </a:solidFill>
          </p:spPr>
        </p:sp>
        <p:sp>
          <p:nvSpPr>
            <p:cNvPr name="TextBox 16" id="16"/>
            <p:cNvSpPr txBox="true"/>
            <p:nvPr/>
          </p:nvSpPr>
          <p:spPr>
            <a:xfrm>
              <a:off x="0" y="-47625"/>
              <a:ext cx="466962" cy="572746"/>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499439" y="6733018"/>
            <a:ext cx="1701282" cy="1541146"/>
            <a:chOff x="0" y="0"/>
            <a:chExt cx="707084" cy="640528"/>
          </a:xfrm>
        </p:grpSpPr>
        <p:sp>
          <p:nvSpPr>
            <p:cNvPr name="Freeform 18" id="18"/>
            <p:cNvSpPr/>
            <p:nvPr/>
          </p:nvSpPr>
          <p:spPr>
            <a:xfrm flipH="false" flipV="false" rot="0">
              <a:off x="0" y="0"/>
              <a:ext cx="707084" cy="640528"/>
            </a:xfrm>
            <a:custGeom>
              <a:avLst/>
              <a:gdLst/>
              <a:ahLst/>
              <a:cxnLst/>
              <a:rect r="r" b="b" t="t" l="l"/>
              <a:pathLst>
                <a:path h="640528" w="707084">
                  <a:moveTo>
                    <a:pt x="59158" y="0"/>
                  </a:moveTo>
                  <a:lnTo>
                    <a:pt x="647926" y="0"/>
                  </a:lnTo>
                  <a:cubicBezTo>
                    <a:pt x="663616" y="0"/>
                    <a:pt x="678663" y="6233"/>
                    <a:pt x="689757" y="17327"/>
                  </a:cubicBezTo>
                  <a:cubicBezTo>
                    <a:pt x="700851" y="28421"/>
                    <a:pt x="707084" y="43469"/>
                    <a:pt x="707084" y="59158"/>
                  </a:cubicBezTo>
                  <a:lnTo>
                    <a:pt x="707084" y="581370"/>
                  </a:lnTo>
                  <a:cubicBezTo>
                    <a:pt x="707084" y="597060"/>
                    <a:pt x="700851" y="612107"/>
                    <a:pt x="689757" y="623201"/>
                  </a:cubicBezTo>
                  <a:cubicBezTo>
                    <a:pt x="678663" y="634296"/>
                    <a:pt x="663616" y="640528"/>
                    <a:pt x="647926" y="640528"/>
                  </a:cubicBezTo>
                  <a:lnTo>
                    <a:pt x="59158" y="640528"/>
                  </a:lnTo>
                  <a:cubicBezTo>
                    <a:pt x="43469" y="640528"/>
                    <a:pt x="28421" y="634296"/>
                    <a:pt x="17327" y="623201"/>
                  </a:cubicBezTo>
                  <a:cubicBezTo>
                    <a:pt x="6233" y="612107"/>
                    <a:pt x="0" y="597060"/>
                    <a:pt x="0" y="581370"/>
                  </a:cubicBezTo>
                  <a:lnTo>
                    <a:pt x="0" y="59158"/>
                  </a:lnTo>
                  <a:cubicBezTo>
                    <a:pt x="0" y="43469"/>
                    <a:pt x="6233" y="28421"/>
                    <a:pt x="17327" y="17327"/>
                  </a:cubicBezTo>
                  <a:cubicBezTo>
                    <a:pt x="28421" y="6233"/>
                    <a:pt x="43469" y="0"/>
                    <a:pt x="59158" y="0"/>
                  </a:cubicBezTo>
                  <a:close/>
                </a:path>
              </a:pathLst>
            </a:custGeom>
            <a:blipFill>
              <a:blip r:embed="rId5"/>
              <a:stretch>
                <a:fillRect l="-46084" t="-124632" r="-31288" b="-210485"/>
              </a:stretch>
            </a:blipFill>
          </p:spPr>
        </p:sp>
      </p:grpSp>
      <p:grpSp>
        <p:nvGrpSpPr>
          <p:cNvPr name="Group 19" id="19"/>
          <p:cNvGrpSpPr/>
          <p:nvPr/>
        </p:nvGrpSpPr>
        <p:grpSpPr>
          <a:xfrm rot="0">
            <a:off x="7442718" y="1669319"/>
            <a:ext cx="1701282" cy="1541146"/>
            <a:chOff x="0" y="0"/>
            <a:chExt cx="707084" cy="640528"/>
          </a:xfrm>
        </p:grpSpPr>
        <p:sp>
          <p:nvSpPr>
            <p:cNvPr name="Freeform 20" id="20"/>
            <p:cNvSpPr/>
            <p:nvPr/>
          </p:nvSpPr>
          <p:spPr>
            <a:xfrm flipH="false" flipV="false" rot="0">
              <a:off x="0" y="0"/>
              <a:ext cx="707084" cy="640528"/>
            </a:xfrm>
            <a:custGeom>
              <a:avLst/>
              <a:gdLst/>
              <a:ahLst/>
              <a:cxnLst/>
              <a:rect r="r" b="b" t="t" l="l"/>
              <a:pathLst>
                <a:path h="640528" w="707084">
                  <a:moveTo>
                    <a:pt x="59158" y="0"/>
                  </a:moveTo>
                  <a:lnTo>
                    <a:pt x="647926" y="0"/>
                  </a:lnTo>
                  <a:cubicBezTo>
                    <a:pt x="663616" y="0"/>
                    <a:pt x="678663" y="6233"/>
                    <a:pt x="689757" y="17327"/>
                  </a:cubicBezTo>
                  <a:cubicBezTo>
                    <a:pt x="700851" y="28421"/>
                    <a:pt x="707084" y="43469"/>
                    <a:pt x="707084" y="59158"/>
                  </a:cubicBezTo>
                  <a:lnTo>
                    <a:pt x="707084" y="581370"/>
                  </a:lnTo>
                  <a:cubicBezTo>
                    <a:pt x="707084" y="597060"/>
                    <a:pt x="700851" y="612107"/>
                    <a:pt x="689757" y="623201"/>
                  </a:cubicBezTo>
                  <a:cubicBezTo>
                    <a:pt x="678663" y="634296"/>
                    <a:pt x="663616" y="640528"/>
                    <a:pt x="647926" y="640528"/>
                  </a:cubicBezTo>
                  <a:lnTo>
                    <a:pt x="59158" y="640528"/>
                  </a:lnTo>
                  <a:cubicBezTo>
                    <a:pt x="43469" y="640528"/>
                    <a:pt x="28421" y="634296"/>
                    <a:pt x="17327" y="623201"/>
                  </a:cubicBezTo>
                  <a:cubicBezTo>
                    <a:pt x="6233" y="612107"/>
                    <a:pt x="0" y="597060"/>
                    <a:pt x="0" y="581370"/>
                  </a:cubicBezTo>
                  <a:lnTo>
                    <a:pt x="0" y="59158"/>
                  </a:lnTo>
                  <a:cubicBezTo>
                    <a:pt x="0" y="43469"/>
                    <a:pt x="6233" y="28421"/>
                    <a:pt x="17327" y="17327"/>
                  </a:cubicBezTo>
                  <a:cubicBezTo>
                    <a:pt x="28421" y="6233"/>
                    <a:pt x="43469" y="0"/>
                    <a:pt x="59158" y="0"/>
                  </a:cubicBezTo>
                  <a:close/>
                </a:path>
              </a:pathLst>
            </a:custGeom>
            <a:blipFill>
              <a:blip r:embed="rId6"/>
              <a:stretch>
                <a:fillRect l="-57122" t="-260293" r="-119546" b="-318411"/>
              </a:stretch>
            </a:blipFill>
          </p:spPr>
        </p:sp>
      </p:grpSp>
      <p:sp>
        <p:nvSpPr>
          <p:cNvPr name="TextBox 21" id="21"/>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22" id="22"/>
          <p:cNvSpPr txBox="true"/>
          <p:nvPr/>
        </p:nvSpPr>
        <p:spPr>
          <a:xfrm rot="0">
            <a:off x="1038278" y="389694"/>
            <a:ext cx="2101213"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&amp; co</a:t>
            </a:r>
          </a:p>
        </p:txBody>
      </p:sp>
      <p:sp>
        <p:nvSpPr>
          <p:cNvPr name="TextBox 23" id="23"/>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24" id="24"/>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25" id="25"/>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26" id="26"/>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27" id="27"/>
          <p:cNvSpPr txBox="true"/>
          <p:nvPr/>
        </p:nvSpPr>
        <p:spPr>
          <a:xfrm rot="0">
            <a:off x="1684366" y="4262853"/>
            <a:ext cx="8385043" cy="1506562"/>
          </a:xfrm>
          <a:prstGeom prst="rect">
            <a:avLst/>
          </a:prstGeom>
        </p:spPr>
        <p:txBody>
          <a:bodyPr anchor="t" rtlCol="false" tIns="0" lIns="0" bIns="0" rIns="0">
            <a:spAutoFit/>
          </a:bodyPr>
          <a:lstStyle/>
          <a:p>
            <a:pPr algn="l">
              <a:lnSpc>
                <a:spcPts val="11313"/>
              </a:lnSpc>
            </a:pPr>
            <a:r>
              <a:rPr lang="en-US" sz="11313" b="true">
                <a:solidFill>
                  <a:srgbClr val="404A9D"/>
                </a:solidFill>
                <a:latin typeface="Fraunces Bold"/>
                <a:ea typeface="Fraunces Bold"/>
                <a:cs typeface="Fraunces Bold"/>
                <a:sym typeface="Fraunces Bold"/>
              </a:rPr>
              <a:t>LagmaBills</a:t>
            </a:r>
          </a:p>
        </p:txBody>
      </p:sp>
      <p:sp>
        <p:nvSpPr>
          <p:cNvPr name="TextBox 28" id="28"/>
          <p:cNvSpPr txBox="true"/>
          <p:nvPr/>
        </p:nvSpPr>
        <p:spPr>
          <a:xfrm rot="0">
            <a:off x="1957236" y="7690446"/>
            <a:ext cx="5963116" cy="464300"/>
          </a:xfrm>
          <a:prstGeom prst="rect">
            <a:avLst/>
          </a:prstGeom>
        </p:spPr>
        <p:txBody>
          <a:bodyPr anchor="t" rtlCol="false" tIns="0" lIns="0" bIns="0" rIns="0">
            <a:spAutoFit/>
          </a:bodyPr>
          <a:lstStyle/>
          <a:p>
            <a:pPr algn="l">
              <a:lnSpc>
                <a:spcPts val="3808"/>
              </a:lnSpc>
              <a:spcBef>
                <a:spcPct val="0"/>
              </a:spcBef>
            </a:pPr>
            <a:r>
              <a:rPr lang="en-US" sz="2720">
                <a:solidFill>
                  <a:srgbClr val="FFFFFF"/>
                </a:solidFill>
                <a:latin typeface="Fraunces"/>
                <a:ea typeface="Fraunces"/>
                <a:cs typeface="Fraunces"/>
                <a:sym typeface="Fraunces"/>
              </a:rPr>
              <a:t>Galileo Galilei Crema 4IC</a:t>
            </a:r>
          </a:p>
        </p:txBody>
      </p:sp>
      <p:sp>
        <p:nvSpPr>
          <p:cNvPr name="TextBox 29" id="29"/>
          <p:cNvSpPr txBox="true"/>
          <p:nvPr/>
        </p:nvSpPr>
        <p:spPr>
          <a:xfrm rot="0">
            <a:off x="1766214" y="5883715"/>
            <a:ext cx="6990924" cy="365759"/>
          </a:xfrm>
          <a:prstGeom prst="rect">
            <a:avLst/>
          </a:prstGeom>
        </p:spPr>
        <p:txBody>
          <a:bodyPr anchor="t" rtlCol="false" tIns="0" lIns="0" bIns="0" rIns="0">
            <a:spAutoFit/>
          </a:bodyPr>
          <a:lstStyle/>
          <a:p>
            <a:pPr algn="l">
              <a:lnSpc>
                <a:spcPts val="2940"/>
              </a:lnSpc>
              <a:spcBef>
                <a:spcPct val="0"/>
              </a:spcBef>
            </a:pPr>
            <a:r>
              <a:rPr lang="en-US" sz="2100">
                <a:solidFill>
                  <a:srgbClr val="000000"/>
                </a:solidFill>
                <a:latin typeface="Work Sans"/>
                <a:ea typeface="Work Sans"/>
                <a:cs typeface="Work Sans"/>
                <a:sym typeface="Work Sans"/>
              </a:rPr>
              <a:t>Daniele Cerioli, Simone Panelli, Andrei Corduneanu</a:t>
            </a:r>
          </a:p>
        </p:txBody>
      </p:sp>
      <p:sp>
        <p:nvSpPr>
          <p:cNvPr name="TextBox 30" id="30"/>
          <p:cNvSpPr txBox="true"/>
          <p:nvPr/>
        </p:nvSpPr>
        <p:spPr>
          <a:xfrm rot="0">
            <a:off x="1741516" y="2050956"/>
            <a:ext cx="1866309" cy="712469"/>
          </a:xfrm>
          <a:prstGeom prst="rect">
            <a:avLst/>
          </a:prstGeom>
        </p:spPr>
        <p:txBody>
          <a:bodyPr anchor="t" rtlCol="false" tIns="0" lIns="0" bIns="0" rIns="0">
            <a:spAutoFit/>
          </a:bodyPr>
          <a:lstStyle/>
          <a:p>
            <a:pPr algn="l">
              <a:lnSpc>
                <a:spcPts val="5880"/>
              </a:lnSpc>
              <a:spcBef>
                <a:spcPct val="0"/>
              </a:spcBef>
            </a:pPr>
            <a:r>
              <a:rPr lang="en-US" sz="4200">
                <a:solidFill>
                  <a:srgbClr val="000000"/>
                </a:solidFill>
                <a:latin typeface="Fraunces"/>
                <a:ea typeface="Fraunces"/>
                <a:cs typeface="Fraunces"/>
                <a:sym typeface="Fraunces"/>
              </a:rPr>
              <a:t>95k+</a:t>
            </a:r>
          </a:p>
        </p:txBody>
      </p:sp>
      <p:sp>
        <p:nvSpPr>
          <p:cNvPr name="TextBox 31" id="31"/>
          <p:cNvSpPr txBox="true"/>
          <p:nvPr/>
        </p:nvSpPr>
        <p:spPr>
          <a:xfrm rot="0">
            <a:off x="1766214" y="2877725"/>
            <a:ext cx="1841610" cy="3327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Work Sans"/>
                <a:ea typeface="Work Sans"/>
                <a:cs typeface="Work Sans"/>
                <a:sym typeface="Work Sans"/>
              </a:rPr>
              <a:t>cavi</a:t>
            </a:r>
          </a:p>
        </p:txBody>
      </p:sp>
      <p:sp>
        <p:nvSpPr>
          <p:cNvPr name="TextBox 32" id="32"/>
          <p:cNvSpPr txBox="true"/>
          <p:nvPr/>
        </p:nvSpPr>
        <p:spPr>
          <a:xfrm rot="0">
            <a:off x="3828196" y="2050956"/>
            <a:ext cx="1866309" cy="712469"/>
          </a:xfrm>
          <a:prstGeom prst="rect">
            <a:avLst/>
          </a:prstGeom>
        </p:spPr>
        <p:txBody>
          <a:bodyPr anchor="t" rtlCol="false" tIns="0" lIns="0" bIns="0" rIns="0">
            <a:spAutoFit/>
          </a:bodyPr>
          <a:lstStyle/>
          <a:p>
            <a:pPr algn="l">
              <a:lnSpc>
                <a:spcPts val="5880"/>
              </a:lnSpc>
              <a:spcBef>
                <a:spcPct val="0"/>
              </a:spcBef>
            </a:pPr>
            <a:r>
              <a:rPr lang="en-US" sz="4200">
                <a:solidFill>
                  <a:srgbClr val="000000"/>
                </a:solidFill>
                <a:latin typeface="Fraunces"/>
                <a:ea typeface="Fraunces"/>
                <a:cs typeface="Fraunces"/>
                <a:sym typeface="Fraunces"/>
              </a:rPr>
              <a:t>100k+</a:t>
            </a:r>
          </a:p>
        </p:txBody>
      </p:sp>
      <p:sp>
        <p:nvSpPr>
          <p:cNvPr name="TextBox 33" id="33"/>
          <p:cNvSpPr txBox="true"/>
          <p:nvPr/>
        </p:nvSpPr>
        <p:spPr>
          <a:xfrm rot="0">
            <a:off x="3865759" y="2877725"/>
            <a:ext cx="2747070" cy="3327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Work Sans"/>
                <a:ea typeface="Work Sans"/>
                <a:cs typeface="Work Sans"/>
                <a:sym typeface="Work Sans"/>
              </a:rPr>
              <a:t>idee</a:t>
            </a:r>
          </a:p>
        </p:txBody>
      </p:sp>
      <p:sp>
        <p:nvSpPr>
          <p:cNvPr name="Freeform 34" id="34"/>
          <p:cNvSpPr/>
          <p:nvPr/>
        </p:nvSpPr>
        <p:spPr>
          <a:xfrm flipH="false" flipV="false" rot="0">
            <a:off x="5876888" y="6625897"/>
            <a:ext cx="2357742" cy="1060339"/>
          </a:xfrm>
          <a:custGeom>
            <a:avLst/>
            <a:gdLst/>
            <a:ahLst/>
            <a:cxnLst/>
            <a:rect r="r" b="b" t="t" l="l"/>
            <a:pathLst>
              <a:path h="1060339" w="2357742">
                <a:moveTo>
                  <a:pt x="0" y="0"/>
                </a:moveTo>
                <a:lnTo>
                  <a:pt x="2357742" y="0"/>
                </a:lnTo>
                <a:lnTo>
                  <a:pt x="2357742" y="1060338"/>
                </a:lnTo>
                <a:lnTo>
                  <a:pt x="0" y="1060338"/>
                </a:lnTo>
                <a:lnTo>
                  <a:pt x="0" y="0"/>
                </a:lnTo>
                <a:close/>
              </a:path>
            </a:pathLst>
          </a:custGeom>
          <a:blipFill>
            <a:blip r:embed="rId7"/>
            <a:stretch>
              <a:fillRect l="0" t="-20272" r="0" b="-4928"/>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054130" y="-150176"/>
            <a:ext cx="4384046" cy="10612381"/>
            <a:chOff x="0" y="0"/>
            <a:chExt cx="679203" cy="1644135"/>
          </a:xfrm>
        </p:grpSpPr>
        <p:sp>
          <p:nvSpPr>
            <p:cNvPr name="Freeform 4" id="4"/>
            <p:cNvSpPr/>
            <p:nvPr/>
          </p:nvSpPr>
          <p:spPr>
            <a:xfrm flipH="false" flipV="false" rot="0">
              <a:off x="0" y="0"/>
              <a:ext cx="679203" cy="1644135"/>
            </a:xfrm>
            <a:custGeom>
              <a:avLst/>
              <a:gdLst/>
              <a:ahLst/>
              <a:cxnLst/>
              <a:rect r="r" b="b" t="t" l="l"/>
              <a:pathLst>
                <a:path h="1644135" w="679203">
                  <a:moveTo>
                    <a:pt x="22957" y="0"/>
                  </a:moveTo>
                  <a:lnTo>
                    <a:pt x="656246" y="0"/>
                  </a:lnTo>
                  <a:cubicBezTo>
                    <a:pt x="668925" y="0"/>
                    <a:pt x="679203" y="10278"/>
                    <a:pt x="679203" y="22957"/>
                  </a:cubicBezTo>
                  <a:lnTo>
                    <a:pt x="679203" y="1621178"/>
                  </a:lnTo>
                  <a:cubicBezTo>
                    <a:pt x="679203" y="1627267"/>
                    <a:pt x="676785" y="1633106"/>
                    <a:pt x="672479" y="1637411"/>
                  </a:cubicBezTo>
                  <a:cubicBezTo>
                    <a:pt x="668174" y="1641717"/>
                    <a:pt x="662335" y="1644135"/>
                    <a:pt x="656246" y="1644135"/>
                  </a:cubicBezTo>
                  <a:lnTo>
                    <a:pt x="22957" y="1644135"/>
                  </a:lnTo>
                  <a:cubicBezTo>
                    <a:pt x="10278" y="1644135"/>
                    <a:pt x="0" y="1633857"/>
                    <a:pt x="0" y="1621178"/>
                  </a:cubicBezTo>
                  <a:lnTo>
                    <a:pt x="0" y="22957"/>
                  </a:lnTo>
                  <a:cubicBezTo>
                    <a:pt x="0" y="10278"/>
                    <a:pt x="10278" y="0"/>
                    <a:pt x="22957" y="0"/>
                  </a:cubicBezTo>
                  <a:close/>
                </a:path>
              </a:pathLst>
            </a:custGeom>
            <a:blipFill>
              <a:blip r:embed="rId4"/>
              <a:stretch>
                <a:fillRect l="-140249" t="0" r="-122399" b="0"/>
              </a:stretch>
            </a:blipFill>
          </p:spPr>
        </p:sp>
      </p:grpSp>
      <p:grpSp>
        <p:nvGrpSpPr>
          <p:cNvPr name="Group 5" id="5"/>
          <p:cNvGrpSpPr/>
          <p:nvPr/>
        </p:nvGrpSpPr>
        <p:grpSpPr>
          <a:xfrm rot="0">
            <a:off x="15840723" y="359026"/>
            <a:ext cx="1418577" cy="406141"/>
            <a:chOff x="0" y="0"/>
            <a:chExt cx="373617" cy="106967"/>
          </a:xfrm>
        </p:grpSpPr>
        <p:sp>
          <p:nvSpPr>
            <p:cNvPr name="Freeform 6" id="6"/>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7" id="7"/>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8" id="8"/>
          <p:cNvGrpSpPr/>
          <p:nvPr/>
        </p:nvGrpSpPr>
        <p:grpSpPr>
          <a:xfrm rot="0">
            <a:off x="13249925" y="0"/>
            <a:ext cx="804205" cy="10287000"/>
            <a:chOff x="0" y="0"/>
            <a:chExt cx="211807" cy="2709333"/>
          </a:xfrm>
        </p:grpSpPr>
        <p:sp>
          <p:nvSpPr>
            <p:cNvPr name="Freeform 9" id="9"/>
            <p:cNvSpPr/>
            <p:nvPr/>
          </p:nvSpPr>
          <p:spPr>
            <a:xfrm flipH="false" flipV="false" rot="0">
              <a:off x="0" y="0"/>
              <a:ext cx="211807" cy="2709333"/>
            </a:xfrm>
            <a:custGeom>
              <a:avLst/>
              <a:gdLst/>
              <a:ahLst/>
              <a:cxnLst/>
              <a:rect r="r" b="b" t="t" l="l"/>
              <a:pathLst>
                <a:path h="2709333" w="211807">
                  <a:moveTo>
                    <a:pt x="0" y="0"/>
                  </a:moveTo>
                  <a:lnTo>
                    <a:pt x="211807" y="0"/>
                  </a:lnTo>
                  <a:lnTo>
                    <a:pt x="211807" y="2709333"/>
                  </a:lnTo>
                  <a:lnTo>
                    <a:pt x="0" y="2709333"/>
                  </a:lnTo>
                  <a:close/>
                </a:path>
              </a:pathLst>
            </a:custGeom>
            <a:solidFill>
              <a:srgbClr val="404A9D"/>
            </a:solidFill>
          </p:spPr>
        </p:sp>
        <p:sp>
          <p:nvSpPr>
            <p:cNvPr name="TextBox 10" id="10"/>
            <p:cNvSpPr txBox="true"/>
            <p:nvPr/>
          </p:nvSpPr>
          <p:spPr>
            <a:xfrm>
              <a:off x="0" y="-57150"/>
              <a:ext cx="211807" cy="2766483"/>
            </a:xfrm>
            <a:prstGeom prst="rect">
              <a:avLst/>
            </a:prstGeom>
          </p:spPr>
          <p:txBody>
            <a:bodyPr anchor="ctr" rtlCol="false" tIns="50800" lIns="50800" bIns="50800" rIns="50800"/>
            <a:lstStyle/>
            <a:p>
              <a:pPr algn="ctr">
                <a:lnSpc>
                  <a:spcPts val="2519"/>
                </a:lnSpc>
              </a:pPr>
            </a:p>
          </p:txBody>
        </p:sp>
      </p:grpSp>
      <p:grpSp>
        <p:nvGrpSpPr>
          <p:cNvPr name="Group 11" id="11"/>
          <p:cNvGrpSpPr/>
          <p:nvPr/>
        </p:nvGrpSpPr>
        <p:grpSpPr>
          <a:xfrm rot="0">
            <a:off x="1533686" y="571212"/>
            <a:ext cx="2444886" cy="9258300"/>
            <a:chOff x="0" y="0"/>
            <a:chExt cx="3259848" cy="12344400"/>
          </a:xfrm>
        </p:grpSpPr>
        <p:sp>
          <p:nvSpPr>
            <p:cNvPr name="TextBox 12" id="12"/>
            <p:cNvSpPr txBox="true"/>
            <p:nvPr/>
          </p:nvSpPr>
          <p:spPr>
            <a:xfrm rot="0">
              <a:off x="0" y="-104775"/>
              <a:ext cx="875846" cy="12449175"/>
            </a:xfrm>
            <a:prstGeom prst="rect">
              <a:avLst/>
            </a:prstGeom>
          </p:spPr>
          <p:txBody>
            <a:bodyPr anchor="t" rtlCol="false" tIns="0" lIns="0" bIns="0" rIns="0">
              <a:spAutoFit/>
            </a:bodyPr>
            <a:lstStyle/>
            <a:p>
              <a:pPr algn="ctr">
                <a:lnSpc>
                  <a:spcPts val="7434"/>
                </a:lnSpc>
              </a:pPr>
              <a:r>
                <a:rPr lang="en-US" sz="5310">
                  <a:solidFill>
                    <a:srgbClr val="404A9D"/>
                  </a:solidFill>
                  <a:latin typeface="More Sugar"/>
                  <a:ea typeface="More Sugar"/>
                  <a:cs typeface="More Sugar"/>
                  <a:sym typeface="More Sugar"/>
                </a:rPr>
                <a:t>L</a:t>
              </a:r>
            </a:p>
            <a:p>
              <a:pPr algn="ctr">
                <a:lnSpc>
                  <a:spcPts val="7434"/>
                </a:lnSpc>
              </a:pPr>
              <a:r>
                <a:rPr lang="en-US" sz="5310">
                  <a:solidFill>
                    <a:srgbClr val="404A9D"/>
                  </a:solidFill>
                  <a:latin typeface="More Sugar"/>
                  <a:ea typeface="More Sugar"/>
                  <a:cs typeface="More Sugar"/>
                  <a:sym typeface="More Sugar"/>
                </a:rPr>
                <a:t>A</a:t>
              </a:r>
            </a:p>
            <a:p>
              <a:pPr algn="ctr">
                <a:lnSpc>
                  <a:spcPts val="7434"/>
                </a:lnSpc>
              </a:pPr>
              <a:r>
                <a:rPr lang="en-US" sz="5310">
                  <a:solidFill>
                    <a:srgbClr val="404A9D"/>
                  </a:solidFill>
                  <a:latin typeface="More Sugar"/>
                  <a:ea typeface="More Sugar"/>
                  <a:cs typeface="More Sugar"/>
                  <a:sym typeface="More Sugar"/>
                </a:rPr>
                <a:t>G</a:t>
              </a:r>
            </a:p>
            <a:p>
              <a:pPr algn="ctr">
                <a:lnSpc>
                  <a:spcPts val="7434"/>
                </a:lnSpc>
              </a:pPr>
              <a:r>
                <a:rPr lang="en-US" sz="5310">
                  <a:solidFill>
                    <a:srgbClr val="404A9D"/>
                  </a:solidFill>
                  <a:latin typeface="More Sugar"/>
                  <a:ea typeface="More Sugar"/>
                  <a:cs typeface="More Sugar"/>
                  <a:sym typeface="More Sugar"/>
                </a:rPr>
                <a:t>M</a:t>
              </a:r>
            </a:p>
            <a:p>
              <a:pPr algn="ctr">
                <a:lnSpc>
                  <a:spcPts val="7434"/>
                </a:lnSpc>
              </a:pPr>
              <a:r>
                <a:rPr lang="en-US" sz="5310">
                  <a:solidFill>
                    <a:srgbClr val="404A9D"/>
                  </a:solidFill>
                  <a:latin typeface="More Sugar"/>
                  <a:ea typeface="More Sugar"/>
                  <a:cs typeface="More Sugar"/>
                  <a:sym typeface="More Sugar"/>
                </a:rPr>
                <a:t>A</a:t>
              </a:r>
            </a:p>
            <a:p>
              <a:pPr algn="ctr">
                <a:lnSpc>
                  <a:spcPts val="7434"/>
                </a:lnSpc>
              </a:pPr>
              <a:r>
                <a:rPr lang="en-US" sz="5310">
                  <a:solidFill>
                    <a:srgbClr val="404A9D"/>
                  </a:solidFill>
                  <a:latin typeface="More Sugar"/>
                  <a:ea typeface="More Sugar"/>
                  <a:cs typeface="More Sugar"/>
                  <a:sym typeface="More Sugar"/>
                </a:rPr>
                <a:t>B</a:t>
              </a:r>
            </a:p>
            <a:p>
              <a:pPr algn="ctr">
                <a:lnSpc>
                  <a:spcPts val="7434"/>
                </a:lnSpc>
              </a:pPr>
              <a:r>
                <a:rPr lang="en-US" sz="5310">
                  <a:solidFill>
                    <a:srgbClr val="404A9D"/>
                  </a:solidFill>
                  <a:latin typeface="More Sugar"/>
                  <a:ea typeface="More Sugar"/>
                  <a:cs typeface="More Sugar"/>
                  <a:sym typeface="More Sugar"/>
                </a:rPr>
                <a:t>I</a:t>
              </a:r>
            </a:p>
            <a:p>
              <a:pPr algn="ctr">
                <a:lnSpc>
                  <a:spcPts val="7434"/>
                </a:lnSpc>
              </a:pPr>
              <a:r>
                <a:rPr lang="en-US" sz="5310">
                  <a:solidFill>
                    <a:srgbClr val="404A9D"/>
                  </a:solidFill>
                  <a:latin typeface="More Sugar"/>
                  <a:ea typeface="More Sugar"/>
                  <a:cs typeface="More Sugar"/>
                  <a:sym typeface="More Sugar"/>
                </a:rPr>
                <a:t>L</a:t>
              </a:r>
            </a:p>
            <a:p>
              <a:pPr algn="ctr">
                <a:lnSpc>
                  <a:spcPts val="7434"/>
                </a:lnSpc>
              </a:pPr>
              <a:r>
                <a:rPr lang="en-US" sz="5310">
                  <a:solidFill>
                    <a:srgbClr val="404A9D"/>
                  </a:solidFill>
                  <a:latin typeface="More Sugar"/>
                  <a:ea typeface="More Sugar"/>
                  <a:cs typeface="More Sugar"/>
                  <a:sym typeface="More Sugar"/>
                </a:rPr>
                <a:t>L</a:t>
              </a:r>
            </a:p>
            <a:p>
              <a:pPr algn="ctr">
                <a:lnSpc>
                  <a:spcPts val="7434"/>
                </a:lnSpc>
              </a:pPr>
              <a:r>
                <a:rPr lang="en-US" sz="5310">
                  <a:solidFill>
                    <a:srgbClr val="404A9D"/>
                  </a:solidFill>
                  <a:latin typeface="More Sugar"/>
                  <a:ea typeface="More Sugar"/>
                  <a:cs typeface="More Sugar"/>
                  <a:sym typeface="More Sugar"/>
                </a:rPr>
                <a:t>S</a:t>
              </a:r>
            </a:p>
          </p:txBody>
        </p:sp>
        <p:sp>
          <p:nvSpPr>
            <p:cNvPr name="TextBox 13" id="13"/>
            <p:cNvSpPr txBox="true"/>
            <p:nvPr/>
          </p:nvSpPr>
          <p:spPr>
            <a:xfrm rot="0">
              <a:off x="669317" y="182491"/>
              <a:ext cx="1048548" cy="808954"/>
            </a:xfrm>
            <a:prstGeom prst="rect">
              <a:avLst/>
            </a:prstGeom>
          </p:spPr>
          <p:txBody>
            <a:bodyPr anchor="t" rtlCol="false" tIns="0" lIns="0" bIns="0" rIns="0">
              <a:spAutoFit/>
            </a:bodyPr>
            <a:lstStyle/>
            <a:p>
              <a:pPr algn="ctr">
                <a:lnSpc>
                  <a:spcPts val="5158"/>
                </a:lnSpc>
              </a:pPr>
              <a:r>
                <a:rPr lang="en-US" sz="3684">
                  <a:solidFill>
                    <a:srgbClr val="000000"/>
                  </a:solidFill>
                  <a:latin typeface="More Sugar"/>
                  <a:ea typeface="More Sugar"/>
                  <a:cs typeface="More Sugar"/>
                  <a:sym typeface="More Sugar"/>
                </a:rPr>
                <a:t>and</a:t>
              </a:r>
            </a:p>
          </p:txBody>
        </p:sp>
        <p:sp>
          <p:nvSpPr>
            <p:cNvPr name="TextBox 14" id="14"/>
            <p:cNvSpPr txBox="true"/>
            <p:nvPr/>
          </p:nvSpPr>
          <p:spPr>
            <a:xfrm rot="0">
              <a:off x="842020" y="1362033"/>
              <a:ext cx="703144"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nd</a:t>
              </a:r>
            </a:p>
          </p:txBody>
        </p:sp>
        <p:sp>
          <p:nvSpPr>
            <p:cNvPr name="TextBox 15" id="15"/>
            <p:cNvSpPr txBox="true"/>
            <p:nvPr/>
          </p:nvSpPr>
          <p:spPr>
            <a:xfrm rot="0">
              <a:off x="875846" y="2641065"/>
              <a:ext cx="1665341"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round</a:t>
              </a:r>
            </a:p>
          </p:txBody>
        </p:sp>
        <p:sp>
          <p:nvSpPr>
            <p:cNvPr name="TextBox 16" id="16"/>
            <p:cNvSpPr txBox="true"/>
            <p:nvPr/>
          </p:nvSpPr>
          <p:spPr>
            <a:xfrm rot="0">
              <a:off x="875846" y="3913862"/>
              <a:ext cx="1270593"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idair</a:t>
              </a:r>
            </a:p>
          </p:txBody>
        </p:sp>
        <p:sp>
          <p:nvSpPr>
            <p:cNvPr name="TextBox 17" id="17"/>
            <p:cNvSpPr txBox="true"/>
            <p:nvPr/>
          </p:nvSpPr>
          <p:spPr>
            <a:xfrm rot="0">
              <a:off x="842020" y="5096553"/>
              <a:ext cx="1282929"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gent</a:t>
              </a:r>
            </a:p>
          </p:txBody>
        </p:sp>
        <p:sp>
          <p:nvSpPr>
            <p:cNvPr name="TextBox 18" id="18"/>
            <p:cNvSpPr txBox="true"/>
            <p:nvPr/>
          </p:nvSpPr>
          <p:spPr>
            <a:xfrm rot="0">
              <a:off x="842020" y="6375585"/>
              <a:ext cx="2023081"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uilt for</a:t>
              </a:r>
            </a:p>
          </p:txBody>
        </p:sp>
        <p:sp>
          <p:nvSpPr>
            <p:cNvPr name="TextBox 19" id="19"/>
            <p:cNvSpPr txBox="true"/>
            <p:nvPr/>
          </p:nvSpPr>
          <p:spPr>
            <a:xfrm rot="0">
              <a:off x="582967" y="7654617"/>
              <a:ext cx="2676881"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ntelligent</a:t>
              </a:r>
            </a:p>
          </p:txBody>
        </p:sp>
        <p:sp>
          <p:nvSpPr>
            <p:cNvPr name="TextBox 20" id="20"/>
            <p:cNvSpPr txBox="true"/>
            <p:nvPr/>
          </p:nvSpPr>
          <p:spPr>
            <a:xfrm rot="0">
              <a:off x="669317" y="8933649"/>
              <a:ext cx="1517311"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inked</a:t>
              </a:r>
            </a:p>
          </p:txBody>
        </p:sp>
        <p:sp>
          <p:nvSpPr>
            <p:cNvPr name="TextBox 21" id="21"/>
            <p:cNvSpPr txBox="true"/>
            <p:nvPr/>
          </p:nvSpPr>
          <p:spPr>
            <a:xfrm rot="0">
              <a:off x="650814" y="10116341"/>
              <a:ext cx="1122563"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ocal</a:t>
              </a:r>
            </a:p>
          </p:txBody>
        </p:sp>
        <p:sp>
          <p:nvSpPr>
            <p:cNvPr name="TextBox 22" id="22"/>
            <p:cNvSpPr txBox="true"/>
            <p:nvPr/>
          </p:nvSpPr>
          <p:spPr>
            <a:xfrm rot="0">
              <a:off x="669317" y="11453328"/>
              <a:ext cx="1912058" cy="808954"/>
            </a:xfrm>
            <a:prstGeom prst="rect">
              <a:avLst/>
            </a:prstGeom>
          </p:spPr>
          <p:txBody>
            <a:bodyPr anchor="t" rtlCol="false" tIns="0" lIns="0" bIns="0" rIns="0">
              <a:spAutoFit/>
            </a:bodyPr>
            <a:lstStyle/>
            <a:p>
              <a:pPr algn="l">
                <a:lnSpc>
                  <a:spcPts val="5158"/>
                </a:lnSpc>
              </a:pPr>
              <a:r>
                <a:rPr lang="en-US" sz="3684">
                  <a:solidFill>
                    <a:srgbClr val="000000"/>
                  </a:solidFill>
                  <a:latin typeface="More Sugar"/>
                  <a:ea typeface="More Sugar"/>
                  <a:cs typeface="More Sugar"/>
                  <a:sym typeface="More Sugar"/>
                </a:rPr>
                <a:t>upport</a:t>
              </a:r>
            </a:p>
          </p:txBody>
        </p:sp>
      </p:grpSp>
      <p:sp>
        <p:nvSpPr>
          <p:cNvPr name="TextBox 23" id="23"/>
          <p:cNvSpPr txBox="true"/>
          <p:nvPr/>
        </p:nvSpPr>
        <p:spPr>
          <a:xfrm rot="0">
            <a:off x="6750451" y="442310"/>
            <a:ext cx="6051435" cy="2037461"/>
          </a:xfrm>
          <a:prstGeom prst="rect">
            <a:avLst/>
          </a:prstGeom>
        </p:spPr>
        <p:txBody>
          <a:bodyPr anchor="t" rtlCol="false" tIns="0" lIns="0" bIns="0" rIns="0">
            <a:spAutoFit/>
          </a:bodyPr>
          <a:lstStyle/>
          <a:p>
            <a:pPr algn="l">
              <a:lnSpc>
                <a:spcPts val="8091"/>
              </a:lnSpc>
            </a:pPr>
            <a:r>
              <a:rPr lang="en-US" b="true" sz="6799">
                <a:solidFill>
                  <a:srgbClr val="022D66"/>
                </a:solidFill>
                <a:latin typeface="Fraunces Bold"/>
                <a:ea typeface="Fraunces Bold"/>
                <a:cs typeface="Fraunces Bold"/>
                <a:sym typeface="Fraunces Bold"/>
              </a:rPr>
              <a:t>The Meaning</a:t>
            </a:r>
            <a:r>
              <a:rPr lang="en-US" b="true" sz="6799">
                <a:solidFill>
                  <a:srgbClr val="022D66"/>
                </a:solidFill>
                <a:latin typeface="Fraunces Bold"/>
                <a:ea typeface="Fraunces Bold"/>
                <a:cs typeface="Fraunces Bold"/>
                <a:sym typeface="Fraunces Bold"/>
              </a:rPr>
              <a:t> of LagmaBills</a:t>
            </a:r>
          </a:p>
        </p:txBody>
      </p:sp>
      <p:grpSp>
        <p:nvGrpSpPr>
          <p:cNvPr name="Group 24" id="24"/>
          <p:cNvGrpSpPr/>
          <p:nvPr/>
        </p:nvGrpSpPr>
        <p:grpSpPr>
          <a:xfrm rot="0">
            <a:off x="0" y="0"/>
            <a:ext cx="804205" cy="10287000"/>
            <a:chOff x="0" y="0"/>
            <a:chExt cx="211807" cy="2709333"/>
          </a:xfrm>
        </p:grpSpPr>
        <p:sp>
          <p:nvSpPr>
            <p:cNvPr name="Freeform 25" id="25"/>
            <p:cNvSpPr/>
            <p:nvPr/>
          </p:nvSpPr>
          <p:spPr>
            <a:xfrm flipH="false" flipV="false" rot="0">
              <a:off x="0" y="0"/>
              <a:ext cx="211807" cy="2709333"/>
            </a:xfrm>
            <a:custGeom>
              <a:avLst/>
              <a:gdLst/>
              <a:ahLst/>
              <a:cxnLst/>
              <a:rect r="r" b="b" t="t" l="l"/>
              <a:pathLst>
                <a:path h="2709333" w="211807">
                  <a:moveTo>
                    <a:pt x="0" y="0"/>
                  </a:moveTo>
                  <a:lnTo>
                    <a:pt x="211807" y="0"/>
                  </a:lnTo>
                  <a:lnTo>
                    <a:pt x="211807" y="2709333"/>
                  </a:lnTo>
                  <a:lnTo>
                    <a:pt x="0" y="2709333"/>
                  </a:lnTo>
                  <a:close/>
                </a:path>
              </a:pathLst>
            </a:custGeom>
            <a:solidFill>
              <a:srgbClr val="404A9D"/>
            </a:solidFill>
          </p:spPr>
        </p:sp>
        <p:sp>
          <p:nvSpPr>
            <p:cNvPr name="TextBox 26" id="26"/>
            <p:cNvSpPr txBox="true"/>
            <p:nvPr/>
          </p:nvSpPr>
          <p:spPr>
            <a:xfrm>
              <a:off x="0" y="-57150"/>
              <a:ext cx="211807" cy="2766483"/>
            </a:xfrm>
            <a:prstGeom prst="rect">
              <a:avLst/>
            </a:prstGeom>
          </p:spPr>
          <p:txBody>
            <a:bodyPr anchor="ctr" rtlCol="false" tIns="50800" lIns="50800" bIns="50800" rIns="50800"/>
            <a:lstStyle/>
            <a:p>
              <a:pPr algn="ctr">
                <a:lnSpc>
                  <a:spcPts val="2519"/>
                </a:lnSpc>
              </a:pPr>
            </a:p>
          </p:txBody>
        </p:sp>
      </p:grpSp>
      <p:grpSp>
        <p:nvGrpSpPr>
          <p:cNvPr name="Group 27" id="27"/>
          <p:cNvGrpSpPr/>
          <p:nvPr/>
        </p:nvGrpSpPr>
        <p:grpSpPr>
          <a:xfrm rot="0">
            <a:off x="5019824" y="3467371"/>
            <a:ext cx="6884187" cy="7152455"/>
            <a:chOff x="0" y="0"/>
            <a:chExt cx="9178915" cy="9536607"/>
          </a:xfrm>
        </p:grpSpPr>
        <p:sp>
          <p:nvSpPr>
            <p:cNvPr name="Freeform 28" id="28"/>
            <p:cNvSpPr/>
            <p:nvPr/>
          </p:nvSpPr>
          <p:spPr>
            <a:xfrm flipH="false" flipV="false" rot="0">
              <a:off x="5044974" y="0"/>
              <a:ext cx="3143656" cy="1413785"/>
            </a:xfrm>
            <a:custGeom>
              <a:avLst/>
              <a:gdLst/>
              <a:ahLst/>
              <a:cxnLst/>
              <a:rect r="r" b="b" t="t" l="l"/>
              <a:pathLst>
                <a:path h="1413785" w="3143656">
                  <a:moveTo>
                    <a:pt x="0" y="0"/>
                  </a:moveTo>
                  <a:lnTo>
                    <a:pt x="3143656" y="0"/>
                  </a:lnTo>
                  <a:lnTo>
                    <a:pt x="3143656" y="1413785"/>
                  </a:lnTo>
                  <a:lnTo>
                    <a:pt x="0" y="1413785"/>
                  </a:lnTo>
                  <a:lnTo>
                    <a:pt x="0" y="0"/>
                  </a:lnTo>
                  <a:close/>
                </a:path>
              </a:pathLst>
            </a:custGeom>
            <a:blipFill>
              <a:blip r:embed="rId5"/>
              <a:stretch>
                <a:fillRect l="0" t="-20272" r="0" b="-4928"/>
              </a:stretch>
            </a:blipFill>
          </p:spPr>
        </p:sp>
        <p:sp>
          <p:nvSpPr>
            <p:cNvPr name="Freeform 29" id="29"/>
            <p:cNvSpPr/>
            <p:nvPr/>
          </p:nvSpPr>
          <p:spPr>
            <a:xfrm flipH="true" flipV="false" rot="0">
              <a:off x="0" y="357692"/>
              <a:ext cx="9178915" cy="9178915"/>
            </a:xfrm>
            <a:custGeom>
              <a:avLst/>
              <a:gdLst/>
              <a:ahLst/>
              <a:cxnLst/>
              <a:rect r="r" b="b" t="t" l="l"/>
              <a:pathLst>
                <a:path h="9178915" w="9178915">
                  <a:moveTo>
                    <a:pt x="9178915" y="0"/>
                  </a:moveTo>
                  <a:lnTo>
                    <a:pt x="0" y="0"/>
                  </a:lnTo>
                  <a:lnTo>
                    <a:pt x="0" y="9178915"/>
                  </a:lnTo>
                  <a:lnTo>
                    <a:pt x="9178915" y="9178915"/>
                  </a:lnTo>
                  <a:lnTo>
                    <a:pt x="9178915"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sp>
        <p:nvSpPr>
          <p:cNvPr name="Freeform 9" id="9"/>
          <p:cNvSpPr/>
          <p:nvPr/>
        </p:nvSpPr>
        <p:spPr>
          <a:xfrm flipH="false" flipV="false" rot="0">
            <a:off x="579126" y="2837736"/>
            <a:ext cx="9300561" cy="4611528"/>
          </a:xfrm>
          <a:custGeom>
            <a:avLst/>
            <a:gdLst/>
            <a:ahLst/>
            <a:cxnLst/>
            <a:rect r="r" b="b" t="t" l="l"/>
            <a:pathLst>
              <a:path h="4611528" w="9300561">
                <a:moveTo>
                  <a:pt x="0" y="0"/>
                </a:moveTo>
                <a:lnTo>
                  <a:pt x="9300560" y="0"/>
                </a:lnTo>
                <a:lnTo>
                  <a:pt x="9300560" y="4611528"/>
                </a:lnTo>
                <a:lnTo>
                  <a:pt x="0" y="4611528"/>
                </a:lnTo>
                <a:lnTo>
                  <a:pt x="0" y="0"/>
                </a:lnTo>
                <a:close/>
              </a:path>
            </a:pathLst>
          </a:custGeom>
          <a:blipFill>
            <a:blip r:embed="rId4"/>
            <a:stretch>
              <a:fillRect l="0" t="0" r="0" b="0"/>
            </a:stretch>
          </a:blipFill>
        </p:spPr>
      </p:sp>
      <p:sp>
        <p:nvSpPr>
          <p:cNvPr name="TextBox 10" id="10"/>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1" id="11"/>
          <p:cNvSpPr txBox="true"/>
          <p:nvPr/>
        </p:nvSpPr>
        <p:spPr>
          <a:xfrm rot="0">
            <a:off x="1038278" y="389694"/>
            <a:ext cx="2104536"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12" id="12"/>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13" id="13"/>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14" id="14"/>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15" id="15"/>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16" id="16"/>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17" id="17"/>
          <p:cNvSpPr txBox="true"/>
          <p:nvPr/>
        </p:nvSpPr>
        <p:spPr>
          <a:xfrm rot="0">
            <a:off x="10578475" y="1476434"/>
            <a:ext cx="6220959" cy="2104330"/>
          </a:xfrm>
          <a:prstGeom prst="rect">
            <a:avLst/>
          </a:prstGeom>
        </p:spPr>
        <p:txBody>
          <a:bodyPr anchor="t" rtlCol="false" tIns="0" lIns="0" bIns="0" rIns="0">
            <a:spAutoFit/>
          </a:bodyPr>
          <a:lstStyle/>
          <a:p>
            <a:pPr algn="l">
              <a:lnSpc>
                <a:spcPts val="8318"/>
              </a:lnSpc>
            </a:pPr>
            <a:r>
              <a:rPr lang="en-US" b="true" sz="6990">
                <a:solidFill>
                  <a:srgbClr val="022D66"/>
                </a:solidFill>
                <a:latin typeface="Fraunces Bold"/>
                <a:ea typeface="Fraunces Bold"/>
                <a:cs typeface="Fraunces Bold"/>
                <a:sym typeface="Fraunces Bold"/>
              </a:rPr>
              <a:t>The p</a:t>
            </a:r>
            <a:r>
              <a:rPr lang="en-US" b="true" sz="6990">
                <a:solidFill>
                  <a:srgbClr val="022D66"/>
                </a:solidFill>
                <a:latin typeface="Fraunces Bold"/>
                <a:ea typeface="Fraunces Bold"/>
                <a:cs typeface="Fraunces Bold"/>
                <a:sym typeface="Fraunces Bold"/>
              </a:rPr>
              <a:t>urpose of LagmaBills</a:t>
            </a:r>
          </a:p>
        </p:txBody>
      </p:sp>
      <p:sp>
        <p:nvSpPr>
          <p:cNvPr name="TextBox 18" id="18"/>
          <p:cNvSpPr txBox="true"/>
          <p:nvPr/>
        </p:nvSpPr>
        <p:spPr>
          <a:xfrm rot="0">
            <a:off x="10578475" y="3771919"/>
            <a:ext cx="7141014" cy="5117405"/>
          </a:xfrm>
          <a:prstGeom prst="rect">
            <a:avLst/>
          </a:prstGeom>
        </p:spPr>
        <p:txBody>
          <a:bodyPr anchor="t" rtlCol="false" tIns="0" lIns="0" bIns="0" rIns="0">
            <a:spAutoFit/>
          </a:bodyPr>
          <a:lstStyle/>
          <a:p>
            <a:pPr algn="l">
              <a:lnSpc>
                <a:spcPts val="3127"/>
              </a:lnSpc>
              <a:spcBef>
                <a:spcPct val="0"/>
              </a:spcBef>
            </a:pPr>
            <a:r>
              <a:rPr lang="en-US" sz="2233">
                <a:solidFill>
                  <a:srgbClr val="000000"/>
                </a:solidFill>
                <a:latin typeface="Work Sans"/>
                <a:ea typeface="Work Sans"/>
                <a:cs typeface="Work Sans"/>
                <a:sym typeface="Work Sans"/>
              </a:rPr>
              <a:t>LagmaBill</a:t>
            </a:r>
            <a:r>
              <a:rPr lang="en-US" sz="2233">
                <a:solidFill>
                  <a:srgbClr val="000000"/>
                </a:solidFill>
                <a:latin typeface="Work Sans"/>
                <a:ea typeface="Work Sans"/>
                <a:cs typeface="Work Sans"/>
                <a:sym typeface="Work Sans"/>
              </a:rPr>
              <a:t>s è una macchina con braccio robotico e drone di pattuglia di supporto per situazioni di emergenza/pericolo; ha un assistente vocale (AI locale su server), e sistema di mappatura con odometria intelligente tramite i sensori a ultrasuoni per poter muoversi autonomamente senza schiantarsi. Il tutto è formato da 2 esp32 e 1 raspberry che comunicano tra loro e con l’app Android (con cui la si può controllare e monitorare da qualsiasi distanza) tramite un sistema di una VPN con una LAN privata per i dispositivi che fanno parte del sistema tramite MQTT (mosquitto sul raspberry).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sp>
        <p:nvSpPr>
          <p:cNvPr name="Freeform 9" id="9"/>
          <p:cNvSpPr/>
          <p:nvPr/>
        </p:nvSpPr>
        <p:spPr>
          <a:xfrm flipH="false" flipV="false" rot="0">
            <a:off x="1330659" y="3048132"/>
            <a:ext cx="7364683" cy="4900862"/>
          </a:xfrm>
          <a:custGeom>
            <a:avLst/>
            <a:gdLst/>
            <a:ahLst/>
            <a:cxnLst/>
            <a:rect r="r" b="b" t="t" l="l"/>
            <a:pathLst>
              <a:path h="4900862" w="7364683">
                <a:moveTo>
                  <a:pt x="0" y="0"/>
                </a:moveTo>
                <a:lnTo>
                  <a:pt x="7364682" y="0"/>
                </a:lnTo>
                <a:lnTo>
                  <a:pt x="7364682" y="4900861"/>
                </a:lnTo>
                <a:lnTo>
                  <a:pt x="0" y="4900861"/>
                </a:lnTo>
                <a:lnTo>
                  <a:pt x="0" y="0"/>
                </a:lnTo>
                <a:close/>
              </a:path>
            </a:pathLst>
          </a:custGeom>
          <a:blipFill>
            <a:blip r:embed="rId4"/>
            <a:stretch>
              <a:fillRect l="0" t="0" r="0" b="0"/>
            </a:stretch>
          </a:blipFill>
        </p:spPr>
      </p:sp>
      <p:sp>
        <p:nvSpPr>
          <p:cNvPr name="TextBox 10" id="10"/>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1" id="11"/>
          <p:cNvSpPr txBox="true"/>
          <p:nvPr/>
        </p:nvSpPr>
        <p:spPr>
          <a:xfrm rot="0">
            <a:off x="1038278" y="389694"/>
            <a:ext cx="2104536"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12" id="12"/>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13" id="13"/>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14" id="14"/>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15" id="15"/>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16" id="16"/>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17" id="17"/>
          <p:cNvSpPr txBox="true"/>
          <p:nvPr/>
        </p:nvSpPr>
        <p:spPr>
          <a:xfrm rot="0">
            <a:off x="9853057" y="1892822"/>
            <a:ext cx="8353235" cy="1932973"/>
          </a:xfrm>
          <a:prstGeom prst="rect">
            <a:avLst/>
          </a:prstGeom>
        </p:spPr>
        <p:txBody>
          <a:bodyPr anchor="t" rtlCol="false" tIns="0" lIns="0" bIns="0" rIns="0">
            <a:spAutoFit/>
          </a:bodyPr>
          <a:lstStyle/>
          <a:p>
            <a:pPr algn="l">
              <a:lnSpc>
                <a:spcPts val="7641"/>
              </a:lnSpc>
            </a:pPr>
            <a:r>
              <a:rPr lang="en-US" sz="6421" b="true">
                <a:solidFill>
                  <a:srgbClr val="022D66"/>
                </a:solidFill>
                <a:latin typeface="Fraunces Bold"/>
                <a:ea typeface="Fraunces Bold"/>
                <a:cs typeface="Fraunces Bold"/>
                <a:sym typeface="Fraunces Bold"/>
              </a:rPr>
              <a:t>What Is LagmaBills Made Of</a:t>
            </a:r>
          </a:p>
        </p:txBody>
      </p:sp>
      <p:sp>
        <p:nvSpPr>
          <p:cNvPr name="TextBox 18" id="18"/>
          <p:cNvSpPr txBox="true"/>
          <p:nvPr/>
        </p:nvSpPr>
        <p:spPr>
          <a:xfrm rot="0">
            <a:off x="9866689" y="4294293"/>
            <a:ext cx="7833270" cy="3458615"/>
          </a:xfrm>
          <a:prstGeom prst="rect">
            <a:avLst/>
          </a:prstGeom>
        </p:spPr>
        <p:txBody>
          <a:bodyPr anchor="t" rtlCol="false" tIns="0" lIns="0" bIns="0" rIns="0">
            <a:spAutoFit/>
          </a:bodyPr>
          <a:lstStyle/>
          <a:p>
            <a:pPr algn="l">
              <a:lnSpc>
                <a:spcPts val="3430"/>
              </a:lnSpc>
              <a:spcBef>
                <a:spcPct val="0"/>
              </a:spcBef>
            </a:pPr>
            <a:r>
              <a:rPr lang="en-US" sz="2450">
                <a:solidFill>
                  <a:srgbClr val="000000"/>
                </a:solidFill>
                <a:latin typeface="Work Sans"/>
                <a:ea typeface="Work Sans"/>
                <a:cs typeface="Work Sans"/>
                <a:sym typeface="Work Sans"/>
              </a:rPr>
              <a:t>LagmaBills principalmente è composta da tre tavolette di legno spesse 0.5 cm poste una sopra l’altra, che danno una base solida all’intera struttura. Inoltre le tavolette sono rette da dei pilastri in acciaio presi da bulloni, offrendo a LagmaBills leggerezza, facilità di lavorazione e resistenza, rendendo il sistema allo stesso tempo robusto e modulare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5400000">
            <a:off x="6763238" y="3344249"/>
            <a:ext cx="4295465" cy="6737985"/>
            <a:chOff x="0" y="0"/>
            <a:chExt cx="812800" cy="1274980"/>
          </a:xfrm>
        </p:grpSpPr>
        <p:sp>
          <p:nvSpPr>
            <p:cNvPr name="Freeform 10" id="10"/>
            <p:cNvSpPr/>
            <p:nvPr/>
          </p:nvSpPr>
          <p:spPr>
            <a:xfrm flipH="false" flipV="false" rot="5400000">
              <a:off x="-231090" y="231090"/>
              <a:ext cx="1274980" cy="812800"/>
            </a:xfrm>
            <a:custGeom>
              <a:avLst/>
              <a:gdLst/>
              <a:ahLst/>
              <a:cxnLst/>
              <a:rect r="r" b="b" t="t" l="l"/>
              <a:pathLst>
                <a:path h="812800" w="1274980">
                  <a:moveTo>
                    <a:pt x="0" y="789370"/>
                  </a:moveTo>
                  <a:lnTo>
                    <a:pt x="0" y="23431"/>
                  </a:lnTo>
                  <a:cubicBezTo>
                    <a:pt x="0" y="10490"/>
                    <a:pt x="10490" y="0"/>
                    <a:pt x="23430" y="0"/>
                  </a:cubicBezTo>
                  <a:lnTo>
                    <a:pt x="1251550" y="0"/>
                  </a:lnTo>
                  <a:cubicBezTo>
                    <a:pt x="1264490" y="0"/>
                    <a:pt x="1274980" y="10490"/>
                    <a:pt x="1274980" y="23431"/>
                  </a:cubicBezTo>
                  <a:lnTo>
                    <a:pt x="1274980" y="789370"/>
                  </a:lnTo>
                  <a:cubicBezTo>
                    <a:pt x="1274980" y="802310"/>
                    <a:pt x="1264490" y="812800"/>
                    <a:pt x="1251550" y="812800"/>
                  </a:cubicBezTo>
                  <a:lnTo>
                    <a:pt x="23430" y="812800"/>
                  </a:lnTo>
                  <a:cubicBezTo>
                    <a:pt x="10490" y="812800"/>
                    <a:pt x="0" y="802310"/>
                    <a:pt x="0" y="789370"/>
                  </a:cubicBezTo>
                  <a:close/>
                </a:path>
              </a:pathLst>
            </a:custGeom>
            <a:blipFill>
              <a:blip r:embed="rId4"/>
              <a:stretch>
                <a:fillRect l="-37043" t="-10811" r="-41232" b="-12650"/>
              </a:stretch>
            </a:blipFill>
          </p:spPr>
        </p:sp>
      </p:grpSp>
      <p:grpSp>
        <p:nvGrpSpPr>
          <p:cNvPr name="Group 11" id="11"/>
          <p:cNvGrpSpPr/>
          <p:nvPr/>
        </p:nvGrpSpPr>
        <p:grpSpPr>
          <a:xfrm rot="-10800000">
            <a:off x="676340" y="2507365"/>
            <a:ext cx="4971048" cy="6750935"/>
            <a:chOff x="0" y="0"/>
            <a:chExt cx="770145" cy="1045897"/>
          </a:xfrm>
        </p:grpSpPr>
        <p:sp>
          <p:nvSpPr>
            <p:cNvPr name="Freeform 12" id="12"/>
            <p:cNvSpPr/>
            <p:nvPr/>
          </p:nvSpPr>
          <p:spPr>
            <a:xfrm flipH="false" flipV="false" rot="5400000">
              <a:off x="-137876" y="137876"/>
              <a:ext cx="1045897" cy="770145"/>
            </a:xfrm>
            <a:custGeom>
              <a:avLst/>
              <a:gdLst/>
              <a:ahLst/>
              <a:cxnLst/>
              <a:rect r="r" b="b" t="t" l="l"/>
              <a:pathLst>
                <a:path h="770145" w="1045897">
                  <a:moveTo>
                    <a:pt x="0" y="765473"/>
                  </a:moveTo>
                  <a:lnTo>
                    <a:pt x="0" y="4672"/>
                  </a:lnTo>
                  <a:cubicBezTo>
                    <a:pt x="0" y="3433"/>
                    <a:pt x="493" y="2244"/>
                    <a:pt x="1369" y="1368"/>
                  </a:cubicBezTo>
                  <a:cubicBezTo>
                    <a:pt x="2245" y="492"/>
                    <a:pt x="3433" y="0"/>
                    <a:pt x="4673" y="0"/>
                  </a:cubicBezTo>
                  <a:lnTo>
                    <a:pt x="1041225" y="0"/>
                  </a:lnTo>
                  <a:cubicBezTo>
                    <a:pt x="1042464" y="0"/>
                    <a:pt x="1043652" y="492"/>
                    <a:pt x="1044529" y="1368"/>
                  </a:cubicBezTo>
                  <a:cubicBezTo>
                    <a:pt x="1045405" y="2244"/>
                    <a:pt x="1045897" y="3433"/>
                    <a:pt x="1045897" y="4672"/>
                  </a:cubicBezTo>
                  <a:lnTo>
                    <a:pt x="1045897" y="765473"/>
                  </a:lnTo>
                  <a:cubicBezTo>
                    <a:pt x="1045897" y="766712"/>
                    <a:pt x="1045405" y="767900"/>
                    <a:pt x="1044529" y="768776"/>
                  </a:cubicBezTo>
                  <a:cubicBezTo>
                    <a:pt x="1043652" y="769653"/>
                    <a:pt x="1042464" y="770145"/>
                    <a:pt x="1041225" y="770145"/>
                  </a:cubicBezTo>
                  <a:lnTo>
                    <a:pt x="4673" y="770145"/>
                  </a:lnTo>
                  <a:cubicBezTo>
                    <a:pt x="3433" y="770145"/>
                    <a:pt x="2245" y="769653"/>
                    <a:pt x="1369" y="768776"/>
                  </a:cubicBezTo>
                  <a:cubicBezTo>
                    <a:pt x="493" y="767900"/>
                    <a:pt x="0" y="766712"/>
                    <a:pt x="0" y="765473"/>
                  </a:cubicBezTo>
                  <a:close/>
                </a:path>
              </a:pathLst>
            </a:custGeom>
            <a:blipFill>
              <a:blip r:embed="rId5"/>
              <a:stretch>
                <a:fillRect l="-10627" t="0" r="-11329" b="-17234"/>
              </a:stretch>
            </a:blipFill>
          </p:spPr>
        </p:sp>
      </p:grpSp>
      <p:sp>
        <p:nvSpPr>
          <p:cNvPr name="TextBox 13" id="13"/>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4" id="14"/>
          <p:cNvSpPr txBox="true"/>
          <p:nvPr/>
        </p:nvSpPr>
        <p:spPr>
          <a:xfrm rot="0">
            <a:off x="1038278" y="389694"/>
            <a:ext cx="2123586"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15" id="15"/>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16" id="16"/>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17" id="17"/>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18" id="18"/>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19" id="19"/>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20" id="20"/>
          <p:cNvSpPr txBox="true"/>
          <p:nvPr/>
        </p:nvSpPr>
        <p:spPr>
          <a:xfrm rot="0">
            <a:off x="5647387" y="1603974"/>
            <a:ext cx="11611913" cy="1160780"/>
          </a:xfrm>
          <a:prstGeom prst="rect">
            <a:avLst/>
          </a:prstGeom>
        </p:spPr>
        <p:txBody>
          <a:bodyPr anchor="t" rtlCol="false" tIns="0" lIns="0" bIns="0" rIns="0">
            <a:spAutoFit/>
          </a:bodyPr>
          <a:lstStyle/>
          <a:p>
            <a:pPr algn="l">
              <a:lnSpc>
                <a:spcPts val="9520"/>
              </a:lnSpc>
            </a:pPr>
            <a:r>
              <a:rPr lang="en-US" b="true" sz="6800">
                <a:solidFill>
                  <a:srgbClr val="404A9D"/>
                </a:solidFill>
                <a:latin typeface="Fraunces Bold"/>
                <a:ea typeface="Fraunces Bold"/>
                <a:cs typeface="Fraunces Bold"/>
                <a:sym typeface="Fraunces Bold"/>
              </a:rPr>
              <a:t>The Heart Of LagmaBills</a:t>
            </a:r>
          </a:p>
        </p:txBody>
      </p:sp>
      <p:sp>
        <p:nvSpPr>
          <p:cNvPr name="TextBox 21" id="21"/>
          <p:cNvSpPr txBox="true"/>
          <p:nvPr/>
        </p:nvSpPr>
        <p:spPr>
          <a:xfrm rot="0">
            <a:off x="5715220" y="3156959"/>
            <a:ext cx="10834791" cy="944879"/>
          </a:xfrm>
          <a:prstGeom prst="rect">
            <a:avLst/>
          </a:prstGeom>
        </p:spPr>
        <p:txBody>
          <a:bodyPr anchor="t" rtlCol="false" tIns="0" lIns="0" bIns="0" rIns="0">
            <a:spAutoFit/>
          </a:bodyPr>
          <a:lstStyle/>
          <a:p>
            <a:pPr algn="l">
              <a:lnSpc>
                <a:spcPts val="2520"/>
              </a:lnSpc>
            </a:pPr>
            <a:r>
              <a:rPr lang="en-US" sz="1800">
                <a:solidFill>
                  <a:srgbClr val="000000"/>
                </a:solidFill>
                <a:latin typeface="Work Sans"/>
                <a:ea typeface="Work Sans"/>
                <a:cs typeface="Work Sans"/>
                <a:sym typeface="Work Sans"/>
              </a:rPr>
              <a:t>Il cuore di LagmaBIlls è un raspberry che fa da centro di comunicazione di tutto il sistema, facendo da broker mqtt (mosquitto) ad un indirizzo fisso via VPN Tailscale con mDNS per farla rilevare dagli esp32 anchessi collegati nella stessa rete internet </a:t>
            </a:r>
          </a:p>
        </p:txBody>
      </p:sp>
      <p:sp>
        <p:nvSpPr>
          <p:cNvPr name="TextBox 22" id="22"/>
          <p:cNvSpPr txBox="true"/>
          <p:nvPr/>
        </p:nvSpPr>
        <p:spPr>
          <a:xfrm rot="0">
            <a:off x="12745100" y="4517884"/>
            <a:ext cx="4682516" cy="1259204"/>
          </a:xfrm>
          <a:prstGeom prst="rect">
            <a:avLst/>
          </a:prstGeom>
        </p:spPr>
        <p:txBody>
          <a:bodyPr anchor="t" rtlCol="false" tIns="0" lIns="0" bIns="0" rIns="0">
            <a:spAutoFit/>
          </a:bodyPr>
          <a:lstStyle/>
          <a:p>
            <a:pPr algn="l">
              <a:lnSpc>
                <a:spcPts val="2520"/>
              </a:lnSpc>
            </a:pPr>
            <a:r>
              <a:rPr lang="en-US" sz="1800">
                <a:solidFill>
                  <a:srgbClr val="000000"/>
                </a:solidFill>
                <a:latin typeface="Work Sans"/>
                <a:ea typeface="Work Sans"/>
                <a:cs typeface="Work Sans"/>
                <a:sym typeface="Work Sans"/>
              </a:rPr>
              <a:t>MQTT è la centrale operativa di LagmaBIlls in cui vengono scambiati tutti i messaggi e i comandi da inviare alle varie periferiche</a:t>
            </a:r>
          </a:p>
        </p:txBody>
      </p:sp>
      <p:sp>
        <p:nvSpPr>
          <p:cNvPr name="TextBox 23" id="23"/>
          <p:cNvSpPr txBox="true"/>
          <p:nvPr/>
        </p:nvSpPr>
        <p:spPr>
          <a:xfrm rot="0">
            <a:off x="12745100" y="6216990"/>
            <a:ext cx="4682516" cy="944879"/>
          </a:xfrm>
          <a:prstGeom prst="rect">
            <a:avLst/>
          </a:prstGeom>
        </p:spPr>
        <p:txBody>
          <a:bodyPr anchor="t" rtlCol="false" tIns="0" lIns="0" bIns="0" rIns="0">
            <a:spAutoFit/>
          </a:bodyPr>
          <a:lstStyle/>
          <a:p>
            <a:pPr algn="l">
              <a:lnSpc>
                <a:spcPts val="2520"/>
              </a:lnSpc>
            </a:pPr>
            <a:r>
              <a:rPr lang="en-US" sz="1800">
                <a:solidFill>
                  <a:srgbClr val="000000"/>
                </a:solidFill>
                <a:latin typeface="Work Sans"/>
                <a:ea typeface="Work Sans"/>
                <a:cs typeface="Work Sans"/>
                <a:sym typeface="Work Sans"/>
              </a:rPr>
              <a:t>L’indirizzo ip del raspberry è: 100.100.61.49 a cui si collegano tramite vari protocolli (es: http, websocket, ecc..)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0">
            <a:off x="12223457" y="2408542"/>
            <a:ext cx="6064543" cy="3086100"/>
            <a:chOff x="0" y="0"/>
            <a:chExt cx="1597246" cy="812800"/>
          </a:xfrm>
        </p:grpSpPr>
        <p:sp>
          <p:nvSpPr>
            <p:cNvPr name="Freeform 10" id="10"/>
            <p:cNvSpPr/>
            <p:nvPr/>
          </p:nvSpPr>
          <p:spPr>
            <a:xfrm flipH="false" flipV="false" rot="0">
              <a:off x="0" y="0"/>
              <a:ext cx="1597246" cy="812800"/>
            </a:xfrm>
            <a:custGeom>
              <a:avLst/>
              <a:gdLst/>
              <a:ahLst/>
              <a:cxnLst/>
              <a:rect r="r" b="b" t="t" l="l"/>
              <a:pathLst>
                <a:path h="812800" w="1597246">
                  <a:moveTo>
                    <a:pt x="0" y="0"/>
                  </a:moveTo>
                  <a:lnTo>
                    <a:pt x="1597246" y="0"/>
                  </a:lnTo>
                  <a:lnTo>
                    <a:pt x="1597246" y="812800"/>
                  </a:lnTo>
                  <a:lnTo>
                    <a:pt x="0" y="812800"/>
                  </a:lnTo>
                  <a:close/>
                </a:path>
              </a:pathLst>
            </a:custGeom>
            <a:solidFill>
              <a:srgbClr val="404A9D"/>
            </a:solidFill>
          </p:spPr>
        </p:sp>
        <p:sp>
          <p:nvSpPr>
            <p:cNvPr name="TextBox 11" id="11"/>
            <p:cNvSpPr txBox="true"/>
            <p:nvPr/>
          </p:nvSpPr>
          <p:spPr>
            <a:xfrm>
              <a:off x="0" y="-57150"/>
              <a:ext cx="1597246" cy="869950"/>
            </a:xfrm>
            <a:prstGeom prst="rect">
              <a:avLst/>
            </a:prstGeom>
          </p:spPr>
          <p:txBody>
            <a:bodyPr anchor="ctr" rtlCol="false" tIns="50800" lIns="50800" bIns="50800" rIns="50800"/>
            <a:lstStyle/>
            <a:p>
              <a:pPr algn="ctr">
                <a:lnSpc>
                  <a:spcPts val="2519"/>
                </a:lnSpc>
              </a:pPr>
            </a:p>
          </p:txBody>
        </p:sp>
      </p:grpSp>
      <p:grpSp>
        <p:nvGrpSpPr>
          <p:cNvPr name="Group 12" id="12"/>
          <p:cNvGrpSpPr/>
          <p:nvPr/>
        </p:nvGrpSpPr>
        <p:grpSpPr>
          <a:xfrm rot="0">
            <a:off x="11651004" y="1480074"/>
            <a:ext cx="5932470" cy="4746091"/>
            <a:chOff x="0" y="0"/>
            <a:chExt cx="919095" cy="735294"/>
          </a:xfrm>
        </p:grpSpPr>
        <p:sp>
          <p:nvSpPr>
            <p:cNvPr name="Freeform 13" id="13"/>
            <p:cNvSpPr/>
            <p:nvPr/>
          </p:nvSpPr>
          <p:spPr>
            <a:xfrm flipH="false" flipV="false" rot="0">
              <a:off x="0" y="0"/>
              <a:ext cx="919095" cy="735294"/>
            </a:xfrm>
            <a:custGeom>
              <a:avLst/>
              <a:gdLst/>
              <a:ahLst/>
              <a:cxnLst/>
              <a:rect r="r" b="b" t="t" l="l"/>
              <a:pathLst>
                <a:path h="735294" w="919095">
                  <a:moveTo>
                    <a:pt x="16965" y="0"/>
                  </a:moveTo>
                  <a:lnTo>
                    <a:pt x="902130" y="0"/>
                  </a:lnTo>
                  <a:cubicBezTo>
                    <a:pt x="906629" y="0"/>
                    <a:pt x="910944" y="1787"/>
                    <a:pt x="914126" y="4969"/>
                  </a:cubicBezTo>
                  <a:cubicBezTo>
                    <a:pt x="917307" y="8151"/>
                    <a:pt x="919095" y="12466"/>
                    <a:pt x="919095" y="16965"/>
                  </a:cubicBezTo>
                  <a:lnTo>
                    <a:pt x="919095" y="718329"/>
                  </a:lnTo>
                  <a:cubicBezTo>
                    <a:pt x="919095" y="722828"/>
                    <a:pt x="917307" y="727143"/>
                    <a:pt x="914126" y="730325"/>
                  </a:cubicBezTo>
                  <a:cubicBezTo>
                    <a:pt x="910944" y="733506"/>
                    <a:pt x="906629" y="735294"/>
                    <a:pt x="902130" y="735294"/>
                  </a:cubicBezTo>
                  <a:lnTo>
                    <a:pt x="16965" y="735294"/>
                  </a:lnTo>
                  <a:cubicBezTo>
                    <a:pt x="12466" y="735294"/>
                    <a:pt x="8151" y="733506"/>
                    <a:pt x="4969" y="730325"/>
                  </a:cubicBezTo>
                  <a:cubicBezTo>
                    <a:pt x="1787" y="727143"/>
                    <a:pt x="0" y="722828"/>
                    <a:pt x="0" y="718329"/>
                  </a:cubicBezTo>
                  <a:lnTo>
                    <a:pt x="0" y="16965"/>
                  </a:lnTo>
                  <a:cubicBezTo>
                    <a:pt x="0" y="12466"/>
                    <a:pt x="1787" y="8151"/>
                    <a:pt x="4969" y="4969"/>
                  </a:cubicBezTo>
                  <a:cubicBezTo>
                    <a:pt x="8151" y="1787"/>
                    <a:pt x="12466" y="0"/>
                    <a:pt x="16965" y="0"/>
                  </a:cubicBezTo>
                  <a:close/>
                </a:path>
              </a:pathLst>
            </a:custGeom>
            <a:blipFill>
              <a:blip r:embed="rId4"/>
              <a:stretch>
                <a:fillRect l="0" t="-12498" r="0" b="-12498"/>
              </a:stretch>
            </a:blipFill>
          </p:spPr>
        </p:sp>
      </p:grpSp>
      <p:grpSp>
        <p:nvGrpSpPr>
          <p:cNvPr name="Group 14" id="14"/>
          <p:cNvGrpSpPr/>
          <p:nvPr/>
        </p:nvGrpSpPr>
        <p:grpSpPr>
          <a:xfrm rot="0">
            <a:off x="7056096" y="5112129"/>
            <a:ext cx="4175808" cy="1735988"/>
            <a:chOff x="0" y="0"/>
            <a:chExt cx="1099801" cy="457215"/>
          </a:xfrm>
        </p:grpSpPr>
        <p:sp>
          <p:nvSpPr>
            <p:cNvPr name="Freeform 15" id="15"/>
            <p:cNvSpPr/>
            <p:nvPr/>
          </p:nvSpPr>
          <p:spPr>
            <a:xfrm flipH="false" flipV="false" rot="0">
              <a:off x="0" y="0"/>
              <a:ext cx="1099801" cy="457215"/>
            </a:xfrm>
            <a:custGeom>
              <a:avLst/>
              <a:gdLst/>
              <a:ahLst/>
              <a:cxnLst/>
              <a:rect r="r" b="b" t="t" l="l"/>
              <a:pathLst>
                <a:path h="457215" w="1099801">
                  <a:moveTo>
                    <a:pt x="24102" y="0"/>
                  </a:moveTo>
                  <a:lnTo>
                    <a:pt x="1075699" y="0"/>
                  </a:lnTo>
                  <a:cubicBezTo>
                    <a:pt x="1089011" y="0"/>
                    <a:pt x="1099801" y="10791"/>
                    <a:pt x="1099801" y="24102"/>
                  </a:cubicBezTo>
                  <a:lnTo>
                    <a:pt x="1099801" y="433113"/>
                  </a:lnTo>
                  <a:cubicBezTo>
                    <a:pt x="1099801" y="446424"/>
                    <a:pt x="1089011" y="457215"/>
                    <a:pt x="1075699" y="457215"/>
                  </a:cubicBezTo>
                  <a:lnTo>
                    <a:pt x="24102" y="457215"/>
                  </a:lnTo>
                  <a:cubicBezTo>
                    <a:pt x="10791" y="457215"/>
                    <a:pt x="0" y="446424"/>
                    <a:pt x="0" y="433113"/>
                  </a:cubicBezTo>
                  <a:lnTo>
                    <a:pt x="0" y="24102"/>
                  </a:lnTo>
                  <a:cubicBezTo>
                    <a:pt x="0" y="10791"/>
                    <a:pt x="10791" y="0"/>
                    <a:pt x="24102" y="0"/>
                  </a:cubicBezTo>
                  <a:close/>
                </a:path>
              </a:pathLst>
            </a:custGeom>
            <a:solidFill>
              <a:srgbClr val="FFFFFF"/>
            </a:solidFill>
          </p:spPr>
        </p:sp>
        <p:sp>
          <p:nvSpPr>
            <p:cNvPr name="TextBox 16" id="16"/>
            <p:cNvSpPr txBox="true"/>
            <p:nvPr/>
          </p:nvSpPr>
          <p:spPr>
            <a:xfrm>
              <a:off x="0" y="-47625"/>
              <a:ext cx="1099801" cy="50484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313133" y="6038488"/>
            <a:ext cx="9285933" cy="3390314"/>
            <a:chOff x="0" y="0"/>
            <a:chExt cx="1438634" cy="525248"/>
          </a:xfrm>
        </p:grpSpPr>
        <p:sp>
          <p:nvSpPr>
            <p:cNvPr name="Freeform 18" id="18"/>
            <p:cNvSpPr/>
            <p:nvPr/>
          </p:nvSpPr>
          <p:spPr>
            <a:xfrm flipH="false" flipV="false" rot="0">
              <a:off x="0" y="0"/>
              <a:ext cx="1438634" cy="525248"/>
            </a:xfrm>
            <a:custGeom>
              <a:avLst/>
              <a:gdLst/>
              <a:ahLst/>
              <a:cxnLst/>
              <a:rect r="r" b="b" t="t" l="l"/>
              <a:pathLst>
                <a:path h="525248" w="1438634">
                  <a:moveTo>
                    <a:pt x="10838" y="0"/>
                  </a:moveTo>
                  <a:lnTo>
                    <a:pt x="1427796" y="0"/>
                  </a:lnTo>
                  <a:cubicBezTo>
                    <a:pt x="1430670" y="0"/>
                    <a:pt x="1433427" y="1142"/>
                    <a:pt x="1435459" y="3175"/>
                  </a:cubicBezTo>
                  <a:cubicBezTo>
                    <a:pt x="1437492" y="5207"/>
                    <a:pt x="1438634" y="7964"/>
                    <a:pt x="1438634" y="10838"/>
                  </a:cubicBezTo>
                  <a:lnTo>
                    <a:pt x="1438634" y="514410"/>
                  </a:lnTo>
                  <a:cubicBezTo>
                    <a:pt x="1438634" y="517285"/>
                    <a:pt x="1437492" y="520041"/>
                    <a:pt x="1435459" y="522074"/>
                  </a:cubicBezTo>
                  <a:cubicBezTo>
                    <a:pt x="1433427" y="524107"/>
                    <a:pt x="1430670" y="525248"/>
                    <a:pt x="1427796" y="525248"/>
                  </a:cubicBezTo>
                  <a:lnTo>
                    <a:pt x="10838" y="525248"/>
                  </a:lnTo>
                  <a:cubicBezTo>
                    <a:pt x="7964" y="525248"/>
                    <a:pt x="5207" y="524107"/>
                    <a:pt x="3175" y="522074"/>
                  </a:cubicBezTo>
                  <a:cubicBezTo>
                    <a:pt x="1142" y="520041"/>
                    <a:pt x="0" y="517285"/>
                    <a:pt x="0" y="514410"/>
                  </a:cubicBezTo>
                  <a:lnTo>
                    <a:pt x="0" y="10838"/>
                  </a:lnTo>
                  <a:cubicBezTo>
                    <a:pt x="0" y="7964"/>
                    <a:pt x="1142" y="5207"/>
                    <a:pt x="3175" y="3175"/>
                  </a:cubicBezTo>
                  <a:cubicBezTo>
                    <a:pt x="5207" y="1142"/>
                    <a:pt x="7964" y="0"/>
                    <a:pt x="10838" y="0"/>
                  </a:cubicBezTo>
                  <a:close/>
                </a:path>
              </a:pathLst>
            </a:custGeom>
            <a:blipFill>
              <a:blip r:embed="rId5"/>
              <a:stretch>
                <a:fillRect l="0" t="-3752" r="0" b="-3752"/>
              </a:stretch>
            </a:blipFill>
          </p:spPr>
        </p:sp>
      </p:grpSp>
      <p:grpSp>
        <p:nvGrpSpPr>
          <p:cNvPr name="Group 19" id="19"/>
          <p:cNvGrpSpPr/>
          <p:nvPr/>
        </p:nvGrpSpPr>
        <p:grpSpPr>
          <a:xfrm rot="0">
            <a:off x="16904084" y="5435281"/>
            <a:ext cx="679390" cy="67939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148140" y="0"/>
                  </a:moveTo>
                  <a:lnTo>
                    <a:pt x="664660" y="0"/>
                  </a:lnTo>
                  <a:cubicBezTo>
                    <a:pt x="746475" y="0"/>
                    <a:pt x="812800" y="66325"/>
                    <a:pt x="812800" y="148140"/>
                  </a:cubicBezTo>
                  <a:lnTo>
                    <a:pt x="812800" y="664660"/>
                  </a:lnTo>
                  <a:cubicBezTo>
                    <a:pt x="812800" y="746475"/>
                    <a:pt x="746475" y="812800"/>
                    <a:pt x="664660" y="812800"/>
                  </a:cubicBezTo>
                  <a:lnTo>
                    <a:pt x="148140" y="812800"/>
                  </a:lnTo>
                  <a:cubicBezTo>
                    <a:pt x="66325" y="812800"/>
                    <a:pt x="0" y="746475"/>
                    <a:pt x="0" y="664660"/>
                  </a:cubicBezTo>
                  <a:lnTo>
                    <a:pt x="0" y="148140"/>
                  </a:lnTo>
                  <a:cubicBezTo>
                    <a:pt x="0" y="66325"/>
                    <a:pt x="66325" y="0"/>
                    <a:pt x="148140" y="0"/>
                  </a:cubicBezTo>
                  <a:close/>
                </a:path>
              </a:pathLst>
            </a:custGeom>
            <a:solidFill>
              <a:srgbClr val="022D66"/>
            </a:solidFill>
          </p:spPr>
        </p:sp>
        <p:sp>
          <p:nvSpPr>
            <p:cNvPr name="TextBox 21" id="21"/>
            <p:cNvSpPr txBox="true"/>
            <p:nvPr/>
          </p:nvSpPr>
          <p:spPr>
            <a:xfrm>
              <a:off x="0" y="-38100"/>
              <a:ext cx="812800" cy="850900"/>
            </a:xfrm>
            <a:prstGeom prst="rect">
              <a:avLst/>
            </a:prstGeom>
          </p:spPr>
          <p:txBody>
            <a:bodyPr anchor="ctr" rtlCol="false" tIns="50800" lIns="50800" bIns="50800" rIns="50800"/>
            <a:lstStyle/>
            <a:p>
              <a:pPr algn="ctr">
                <a:lnSpc>
                  <a:spcPts val="2380"/>
                </a:lnSpc>
              </a:pPr>
            </a:p>
          </p:txBody>
        </p:sp>
      </p:grpSp>
      <p:grpSp>
        <p:nvGrpSpPr>
          <p:cNvPr name="Group 22" id="22"/>
          <p:cNvGrpSpPr/>
          <p:nvPr/>
        </p:nvGrpSpPr>
        <p:grpSpPr>
          <a:xfrm rot="0">
            <a:off x="9919676" y="8749413"/>
            <a:ext cx="679390" cy="67939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148140" y="0"/>
                  </a:moveTo>
                  <a:lnTo>
                    <a:pt x="664660" y="0"/>
                  </a:lnTo>
                  <a:cubicBezTo>
                    <a:pt x="746475" y="0"/>
                    <a:pt x="812800" y="66325"/>
                    <a:pt x="812800" y="148140"/>
                  </a:cubicBezTo>
                  <a:lnTo>
                    <a:pt x="812800" y="664660"/>
                  </a:lnTo>
                  <a:cubicBezTo>
                    <a:pt x="812800" y="746475"/>
                    <a:pt x="746475" y="812800"/>
                    <a:pt x="664660" y="812800"/>
                  </a:cubicBezTo>
                  <a:lnTo>
                    <a:pt x="148140" y="812800"/>
                  </a:lnTo>
                  <a:cubicBezTo>
                    <a:pt x="66325" y="812800"/>
                    <a:pt x="0" y="746475"/>
                    <a:pt x="0" y="664660"/>
                  </a:cubicBezTo>
                  <a:lnTo>
                    <a:pt x="0" y="148140"/>
                  </a:lnTo>
                  <a:cubicBezTo>
                    <a:pt x="0" y="66325"/>
                    <a:pt x="66325" y="0"/>
                    <a:pt x="148140" y="0"/>
                  </a:cubicBezTo>
                  <a:close/>
                </a:path>
              </a:pathLst>
            </a:custGeom>
            <a:solidFill>
              <a:srgbClr val="022D66"/>
            </a:solidFill>
          </p:spPr>
        </p:sp>
        <p:sp>
          <p:nvSpPr>
            <p:cNvPr name="TextBox 24" id="24"/>
            <p:cNvSpPr txBox="true"/>
            <p:nvPr/>
          </p:nvSpPr>
          <p:spPr>
            <a:xfrm>
              <a:off x="0" y="-38100"/>
              <a:ext cx="812800" cy="850900"/>
            </a:xfrm>
            <a:prstGeom prst="rect">
              <a:avLst/>
            </a:prstGeom>
          </p:spPr>
          <p:txBody>
            <a:bodyPr anchor="ctr" rtlCol="false" tIns="50800" lIns="50800" bIns="50800" rIns="50800"/>
            <a:lstStyle/>
            <a:p>
              <a:pPr algn="ctr">
                <a:lnSpc>
                  <a:spcPts val="2380"/>
                </a:lnSpc>
              </a:pPr>
            </a:p>
          </p:txBody>
        </p:sp>
      </p:grpSp>
      <p:sp>
        <p:nvSpPr>
          <p:cNvPr name="Freeform 25" id="25"/>
          <p:cNvSpPr/>
          <p:nvPr/>
        </p:nvSpPr>
        <p:spPr>
          <a:xfrm flipH="false" flipV="false" rot="-733997">
            <a:off x="9204464" y="3573599"/>
            <a:ext cx="2310592" cy="3077060"/>
          </a:xfrm>
          <a:custGeom>
            <a:avLst/>
            <a:gdLst/>
            <a:ahLst/>
            <a:cxnLst/>
            <a:rect r="r" b="b" t="t" l="l"/>
            <a:pathLst>
              <a:path h="3077060" w="2310592">
                <a:moveTo>
                  <a:pt x="0" y="0"/>
                </a:moveTo>
                <a:lnTo>
                  <a:pt x="2310592" y="0"/>
                </a:lnTo>
                <a:lnTo>
                  <a:pt x="2310592" y="3077060"/>
                </a:lnTo>
                <a:lnTo>
                  <a:pt x="0" y="307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27" id="27"/>
          <p:cNvSpPr txBox="true"/>
          <p:nvPr/>
        </p:nvSpPr>
        <p:spPr>
          <a:xfrm rot="0">
            <a:off x="1038278" y="389694"/>
            <a:ext cx="2104536"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28" id="28"/>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29" id="29"/>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30" id="30"/>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31" id="31"/>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32" id="32"/>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33" id="33"/>
          <p:cNvSpPr txBox="true"/>
          <p:nvPr/>
        </p:nvSpPr>
        <p:spPr>
          <a:xfrm rot="0">
            <a:off x="1639107" y="1525450"/>
            <a:ext cx="10640856" cy="1018286"/>
          </a:xfrm>
          <a:prstGeom prst="rect">
            <a:avLst/>
          </a:prstGeom>
        </p:spPr>
        <p:txBody>
          <a:bodyPr anchor="t" rtlCol="false" tIns="0" lIns="0" bIns="0" rIns="0">
            <a:spAutoFit/>
          </a:bodyPr>
          <a:lstStyle/>
          <a:p>
            <a:pPr algn="l">
              <a:lnSpc>
                <a:spcPts val="8091"/>
              </a:lnSpc>
            </a:pPr>
            <a:r>
              <a:rPr lang="en-US" sz="6799" b="true">
                <a:solidFill>
                  <a:srgbClr val="404A9D"/>
                </a:solidFill>
                <a:latin typeface="Fraunces Bold"/>
                <a:ea typeface="Fraunces Bold"/>
                <a:cs typeface="Fraunces Bold"/>
                <a:sym typeface="Fraunces Bold"/>
              </a:rPr>
              <a:t>The type of connections</a:t>
            </a:r>
          </a:p>
        </p:txBody>
      </p:sp>
      <p:sp>
        <p:nvSpPr>
          <p:cNvPr name="TextBox 34" id="34"/>
          <p:cNvSpPr txBox="true"/>
          <p:nvPr/>
        </p:nvSpPr>
        <p:spPr>
          <a:xfrm rot="0">
            <a:off x="1639107" y="2905658"/>
            <a:ext cx="817262" cy="762001"/>
          </a:xfrm>
          <a:prstGeom prst="rect">
            <a:avLst/>
          </a:prstGeom>
        </p:spPr>
        <p:txBody>
          <a:bodyPr anchor="t" rtlCol="false" tIns="0" lIns="0" bIns="0" rIns="0">
            <a:spAutoFit/>
          </a:bodyPr>
          <a:lstStyle/>
          <a:p>
            <a:pPr algn="l">
              <a:lnSpc>
                <a:spcPts val="6299"/>
              </a:lnSpc>
              <a:spcBef>
                <a:spcPct val="0"/>
              </a:spcBef>
            </a:pPr>
            <a:r>
              <a:rPr lang="en-US" b="true" sz="4499">
                <a:solidFill>
                  <a:srgbClr val="022D66"/>
                </a:solidFill>
                <a:latin typeface="Fraunces Bold"/>
                <a:ea typeface="Fraunces Bold"/>
                <a:cs typeface="Fraunces Bold"/>
                <a:sym typeface="Fraunces Bold"/>
              </a:rPr>
              <a:t>01</a:t>
            </a:r>
          </a:p>
        </p:txBody>
      </p:sp>
      <p:sp>
        <p:nvSpPr>
          <p:cNvPr name="TextBox 35" id="35"/>
          <p:cNvSpPr txBox="true"/>
          <p:nvPr/>
        </p:nvSpPr>
        <p:spPr>
          <a:xfrm rot="0">
            <a:off x="1639107" y="3903967"/>
            <a:ext cx="6394954" cy="944879"/>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Work Sans"/>
                <a:ea typeface="Work Sans"/>
                <a:cs typeface="Work Sans"/>
                <a:sym typeface="Work Sans"/>
              </a:rPr>
              <a:t>La VPN di tailscale la utilizziamo per tutti i dispositivi che vogliono comunicare con LagmaBills per concedere l’accesso anche a grandi distanze e con bassa latenza</a:t>
            </a:r>
          </a:p>
        </p:txBody>
      </p:sp>
      <p:sp>
        <p:nvSpPr>
          <p:cNvPr name="TextBox 36" id="36"/>
          <p:cNvSpPr txBox="true"/>
          <p:nvPr/>
        </p:nvSpPr>
        <p:spPr>
          <a:xfrm rot="0">
            <a:off x="2659981" y="3058058"/>
            <a:ext cx="2668386" cy="495301"/>
          </a:xfrm>
          <a:prstGeom prst="rect">
            <a:avLst/>
          </a:prstGeom>
        </p:spPr>
        <p:txBody>
          <a:bodyPr anchor="t" rtlCol="false" tIns="0" lIns="0" bIns="0" rIns="0">
            <a:spAutoFit/>
          </a:bodyPr>
          <a:lstStyle/>
          <a:p>
            <a:pPr algn="l">
              <a:lnSpc>
                <a:spcPts val="4199"/>
              </a:lnSpc>
              <a:spcBef>
                <a:spcPct val="0"/>
              </a:spcBef>
            </a:pPr>
            <a:r>
              <a:rPr lang="en-US" sz="2999">
                <a:solidFill>
                  <a:srgbClr val="404A9D"/>
                </a:solidFill>
                <a:latin typeface="Fraunces"/>
                <a:ea typeface="Fraunces"/>
                <a:cs typeface="Fraunces"/>
                <a:sym typeface="Fraunces"/>
              </a:rPr>
              <a:t>Tailscale</a:t>
            </a:r>
          </a:p>
        </p:txBody>
      </p:sp>
      <p:sp>
        <p:nvSpPr>
          <p:cNvPr name="TextBox 37" id="37"/>
          <p:cNvSpPr txBox="true"/>
          <p:nvPr/>
        </p:nvSpPr>
        <p:spPr>
          <a:xfrm rot="0">
            <a:off x="11711948" y="6372137"/>
            <a:ext cx="817262" cy="762001"/>
          </a:xfrm>
          <a:prstGeom prst="rect">
            <a:avLst/>
          </a:prstGeom>
        </p:spPr>
        <p:txBody>
          <a:bodyPr anchor="t" rtlCol="false" tIns="0" lIns="0" bIns="0" rIns="0">
            <a:spAutoFit/>
          </a:bodyPr>
          <a:lstStyle/>
          <a:p>
            <a:pPr algn="l">
              <a:lnSpc>
                <a:spcPts val="6299"/>
              </a:lnSpc>
              <a:spcBef>
                <a:spcPct val="0"/>
              </a:spcBef>
            </a:pPr>
            <a:r>
              <a:rPr lang="en-US" b="true" sz="4499">
                <a:solidFill>
                  <a:srgbClr val="022D66"/>
                </a:solidFill>
                <a:latin typeface="Fraunces Bold"/>
                <a:ea typeface="Fraunces Bold"/>
                <a:cs typeface="Fraunces Bold"/>
                <a:sym typeface="Fraunces Bold"/>
              </a:rPr>
              <a:t>02</a:t>
            </a:r>
          </a:p>
        </p:txBody>
      </p:sp>
      <p:sp>
        <p:nvSpPr>
          <p:cNvPr name="TextBox 38" id="38"/>
          <p:cNvSpPr txBox="true"/>
          <p:nvPr/>
        </p:nvSpPr>
        <p:spPr>
          <a:xfrm rot="0">
            <a:off x="11711948" y="7370446"/>
            <a:ext cx="5768648" cy="1887854"/>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Work Sans"/>
                <a:ea typeface="Work Sans"/>
                <a:cs typeface="Work Sans"/>
                <a:sym typeface="Work Sans"/>
              </a:rPr>
              <a:t>Bluetooth 4.0 è il protocollo con cui lo stereo comunica con il raspberry, mentre i2c viene usato come protocollo di backup in caso si perda la connessione internet e per comunicare con una latenza minore per i comandi più necessari nell’immediato</a:t>
            </a:r>
          </a:p>
        </p:txBody>
      </p:sp>
      <p:sp>
        <p:nvSpPr>
          <p:cNvPr name="TextBox 39" id="39"/>
          <p:cNvSpPr txBox="true"/>
          <p:nvPr/>
        </p:nvSpPr>
        <p:spPr>
          <a:xfrm rot="0">
            <a:off x="12732823" y="6524537"/>
            <a:ext cx="4250815" cy="495301"/>
          </a:xfrm>
          <a:prstGeom prst="rect">
            <a:avLst/>
          </a:prstGeom>
        </p:spPr>
        <p:txBody>
          <a:bodyPr anchor="t" rtlCol="false" tIns="0" lIns="0" bIns="0" rIns="0">
            <a:spAutoFit/>
          </a:bodyPr>
          <a:lstStyle/>
          <a:p>
            <a:pPr algn="l">
              <a:lnSpc>
                <a:spcPts val="4199"/>
              </a:lnSpc>
              <a:spcBef>
                <a:spcPct val="0"/>
              </a:spcBef>
            </a:pPr>
            <a:r>
              <a:rPr lang="en-US" sz="2999">
                <a:solidFill>
                  <a:srgbClr val="404A9D"/>
                </a:solidFill>
                <a:latin typeface="Fraunces"/>
                <a:ea typeface="Fraunces"/>
                <a:cs typeface="Fraunces"/>
                <a:sym typeface="Fraunces"/>
              </a:rPr>
              <a:t>i2C / Bluetooth 5.0</a:t>
            </a:r>
          </a:p>
        </p:txBody>
      </p:sp>
      <p:sp>
        <p:nvSpPr>
          <p:cNvPr name="TextBox 40" id="40"/>
          <p:cNvSpPr txBox="true"/>
          <p:nvPr/>
        </p:nvSpPr>
        <p:spPr>
          <a:xfrm rot="0">
            <a:off x="17006961" y="5609558"/>
            <a:ext cx="473635" cy="283210"/>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Work Sans"/>
                <a:ea typeface="Work Sans"/>
                <a:cs typeface="Work Sans"/>
                <a:sym typeface="Work Sans"/>
              </a:rPr>
              <a:t>02</a:t>
            </a:r>
          </a:p>
        </p:txBody>
      </p:sp>
      <p:sp>
        <p:nvSpPr>
          <p:cNvPr name="TextBox 41" id="41"/>
          <p:cNvSpPr txBox="true"/>
          <p:nvPr/>
        </p:nvSpPr>
        <p:spPr>
          <a:xfrm rot="0">
            <a:off x="10022553" y="8923690"/>
            <a:ext cx="473635" cy="283210"/>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Work Sans"/>
                <a:ea typeface="Work Sans"/>
                <a:cs typeface="Work Sans"/>
                <a:sym typeface="Work Sans"/>
              </a:rPr>
              <a:t>01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0">
            <a:off x="12851" y="2600764"/>
            <a:ext cx="5656625" cy="1695157"/>
            <a:chOff x="0" y="0"/>
            <a:chExt cx="1489811" cy="446461"/>
          </a:xfrm>
        </p:grpSpPr>
        <p:sp>
          <p:nvSpPr>
            <p:cNvPr name="Freeform 10" id="10"/>
            <p:cNvSpPr/>
            <p:nvPr/>
          </p:nvSpPr>
          <p:spPr>
            <a:xfrm flipH="false" flipV="false" rot="0">
              <a:off x="0" y="0"/>
              <a:ext cx="1489811" cy="446461"/>
            </a:xfrm>
            <a:custGeom>
              <a:avLst/>
              <a:gdLst/>
              <a:ahLst/>
              <a:cxnLst/>
              <a:rect r="r" b="b" t="t" l="l"/>
              <a:pathLst>
                <a:path h="446461" w="1489811">
                  <a:moveTo>
                    <a:pt x="0" y="0"/>
                  </a:moveTo>
                  <a:lnTo>
                    <a:pt x="1489811" y="0"/>
                  </a:lnTo>
                  <a:lnTo>
                    <a:pt x="1489811" y="446461"/>
                  </a:lnTo>
                  <a:lnTo>
                    <a:pt x="0" y="446461"/>
                  </a:lnTo>
                  <a:close/>
                </a:path>
              </a:pathLst>
            </a:custGeom>
            <a:solidFill>
              <a:srgbClr val="022D66"/>
            </a:solidFill>
          </p:spPr>
        </p:sp>
        <p:sp>
          <p:nvSpPr>
            <p:cNvPr name="TextBox 11" id="11"/>
            <p:cNvSpPr txBox="true"/>
            <p:nvPr/>
          </p:nvSpPr>
          <p:spPr>
            <a:xfrm>
              <a:off x="0" y="-57150"/>
              <a:ext cx="1489811" cy="503611"/>
            </a:xfrm>
            <a:prstGeom prst="rect">
              <a:avLst/>
            </a:prstGeom>
          </p:spPr>
          <p:txBody>
            <a:bodyPr anchor="ctr" rtlCol="false" tIns="50800" lIns="50800" bIns="50800" rIns="50800"/>
            <a:lstStyle/>
            <a:p>
              <a:pPr algn="ctr">
                <a:lnSpc>
                  <a:spcPts val="2519"/>
                </a:lnSpc>
              </a:pPr>
            </a:p>
          </p:txBody>
        </p:sp>
      </p:grpSp>
      <p:grpSp>
        <p:nvGrpSpPr>
          <p:cNvPr name="Group 12" id="12"/>
          <p:cNvGrpSpPr/>
          <p:nvPr/>
        </p:nvGrpSpPr>
        <p:grpSpPr>
          <a:xfrm rot="0">
            <a:off x="0" y="2600764"/>
            <a:ext cx="18275149" cy="1695157"/>
            <a:chOff x="0" y="0"/>
            <a:chExt cx="4813208" cy="446461"/>
          </a:xfrm>
        </p:grpSpPr>
        <p:sp>
          <p:nvSpPr>
            <p:cNvPr name="Freeform 13" id="13"/>
            <p:cNvSpPr/>
            <p:nvPr/>
          </p:nvSpPr>
          <p:spPr>
            <a:xfrm flipH="false" flipV="false" rot="0">
              <a:off x="0" y="0"/>
              <a:ext cx="4813208" cy="446461"/>
            </a:xfrm>
            <a:custGeom>
              <a:avLst/>
              <a:gdLst/>
              <a:ahLst/>
              <a:cxnLst/>
              <a:rect r="r" b="b" t="t" l="l"/>
              <a:pathLst>
                <a:path h="446461" w="4813208">
                  <a:moveTo>
                    <a:pt x="0" y="0"/>
                  </a:moveTo>
                  <a:lnTo>
                    <a:pt x="4813208" y="0"/>
                  </a:lnTo>
                  <a:lnTo>
                    <a:pt x="4813208" y="446461"/>
                  </a:lnTo>
                  <a:lnTo>
                    <a:pt x="0" y="446461"/>
                  </a:lnTo>
                  <a:close/>
                </a:path>
              </a:pathLst>
            </a:custGeom>
            <a:solidFill>
              <a:srgbClr val="022D66"/>
            </a:solidFill>
          </p:spPr>
        </p:sp>
        <p:sp>
          <p:nvSpPr>
            <p:cNvPr name="TextBox 14" id="14"/>
            <p:cNvSpPr txBox="true"/>
            <p:nvPr/>
          </p:nvSpPr>
          <p:spPr>
            <a:xfrm>
              <a:off x="0" y="-57150"/>
              <a:ext cx="4813208" cy="503611"/>
            </a:xfrm>
            <a:prstGeom prst="rect">
              <a:avLst/>
            </a:prstGeom>
          </p:spPr>
          <p:txBody>
            <a:bodyPr anchor="ctr" rtlCol="false" tIns="50800" lIns="50800" bIns="50800" rIns="50800"/>
            <a:lstStyle/>
            <a:p>
              <a:pPr algn="ctr">
                <a:lnSpc>
                  <a:spcPts val="2519"/>
                </a:lnSpc>
              </a:pPr>
            </a:p>
          </p:txBody>
        </p:sp>
      </p:grpSp>
      <p:grpSp>
        <p:nvGrpSpPr>
          <p:cNvPr name="Group 15" id="15"/>
          <p:cNvGrpSpPr/>
          <p:nvPr/>
        </p:nvGrpSpPr>
        <p:grpSpPr>
          <a:xfrm rot="0">
            <a:off x="1243013" y="1658605"/>
            <a:ext cx="7419719" cy="4158982"/>
            <a:chOff x="0" y="0"/>
            <a:chExt cx="1149509" cy="644335"/>
          </a:xfrm>
        </p:grpSpPr>
        <p:sp>
          <p:nvSpPr>
            <p:cNvPr name="Freeform 16" id="16"/>
            <p:cNvSpPr/>
            <p:nvPr/>
          </p:nvSpPr>
          <p:spPr>
            <a:xfrm flipH="false" flipV="false" rot="0">
              <a:off x="0" y="0"/>
              <a:ext cx="1149509" cy="644335"/>
            </a:xfrm>
            <a:custGeom>
              <a:avLst/>
              <a:gdLst/>
              <a:ahLst/>
              <a:cxnLst/>
              <a:rect r="r" b="b" t="t" l="l"/>
              <a:pathLst>
                <a:path h="644335" w="1149509">
                  <a:moveTo>
                    <a:pt x="13565" y="0"/>
                  </a:moveTo>
                  <a:lnTo>
                    <a:pt x="1135944" y="0"/>
                  </a:lnTo>
                  <a:cubicBezTo>
                    <a:pt x="1143436" y="0"/>
                    <a:pt x="1149509" y="6073"/>
                    <a:pt x="1149509" y="13565"/>
                  </a:cubicBezTo>
                  <a:lnTo>
                    <a:pt x="1149509" y="630771"/>
                  </a:lnTo>
                  <a:cubicBezTo>
                    <a:pt x="1149509" y="638262"/>
                    <a:pt x="1143436" y="644335"/>
                    <a:pt x="1135944" y="644335"/>
                  </a:cubicBezTo>
                  <a:lnTo>
                    <a:pt x="13565" y="644335"/>
                  </a:lnTo>
                  <a:cubicBezTo>
                    <a:pt x="6073" y="644335"/>
                    <a:pt x="0" y="638262"/>
                    <a:pt x="0" y="630771"/>
                  </a:cubicBezTo>
                  <a:lnTo>
                    <a:pt x="0" y="13565"/>
                  </a:lnTo>
                  <a:cubicBezTo>
                    <a:pt x="0" y="6073"/>
                    <a:pt x="6073" y="0"/>
                    <a:pt x="13565" y="0"/>
                  </a:cubicBezTo>
                  <a:close/>
                </a:path>
              </a:pathLst>
            </a:custGeom>
            <a:blipFill>
              <a:blip r:embed="rId4"/>
              <a:stretch>
                <a:fillRect l="0" t="-6333" r="0" b="-6333"/>
              </a:stretch>
            </a:blipFill>
          </p:spPr>
        </p:sp>
      </p:grpSp>
      <p:grpSp>
        <p:nvGrpSpPr>
          <p:cNvPr name="Group 17" id="17"/>
          <p:cNvGrpSpPr/>
          <p:nvPr/>
        </p:nvGrpSpPr>
        <p:grpSpPr>
          <a:xfrm rot="0">
            <a:off x="1227343" y="5098288"/>
            <a:ext cx="764511" cy="76451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22D66"/>
            </a:solidFill>
          </p:spPr>
        </p:sp>
        <p:sp>
          <p:nvSpPr>
            <p:cNvPr name="TextBox 19" id="19"/>
            <p:cNvSpPr txBox="true"/>
            <p:nvPr/>
          </p:nvSpPr>
          <p:spPr>
            <a:xfrm>
              <a:off x="0" y="-47625"/>
              <a:ext cx="812800" cy="860425"/>
            </a:xfrm>
            <a:prstGeom prst="rect">
              <a:avLst/>
            </a:prstGeom>
          </p:spPr>
          <p:txBody>
            <a:bodyPr anchor="ctr" rtlCol="false" tIns="50800" lIns="50800" bIns="50800" rIns="50800"/>
            <a:lstStyle/>
            <a:p>
              <a:pPr algn="ctr">
                <a:lnSpc>
                  <a:spcPts val="2100"/>
                </a:lnSpc>
              </a:pPr>
            </a:p>
          </p:txBody>
        </p:sp>
      </p:grpSp>
      <p:grpSp>
        <p:nvGrpSpPr>
          <p:cNvPr name="Group 20" id="20"/>
          <p:cNvGrpSpPr/>
          <p:nvPr/>
        </p:nvGrpSpPr>
        <p:grpSpPr>
          <a:xfrm rot="0">
            <a:off x="11719378" y="1028700"/>
            <a:ext cx="5367137" cy="5937429"/>
            <a:chOff x="0" y="0"/>
            <a:chExt cx="670662" cy="741924"/>
          </a:xfrm>
        </p:grpSpPr>
        <p:sp>
          <p:nvSpPr>
            <p:cNvPr name="Freeform 21" id="21"/>
            <p:cNvSpPr/>
            <p:nvPr/>
          </p:nvSpPr>
          <p:spPr>
            <a:xfrm flipH="false" flipV="false" rot="0">
              <a:off x="0" y="0"/>
              <a:ext cx="670662" cy="741924"/>
            </a:xfrm>
            <a:custGeom>
              <a:avLst/>
              <a:gdLst/>
              <a:ahLst/>
              <a:cxnLst/>
              <a:rect r="r" b="b" t="t" l="l"/>
              <a:pathLst>
                <a:path h="741924" w="670662">
                  <a:moveTo>
                    <a:pt x="18752" y="0"/>
                  </a:moveTo>
                  <a:lnTo>
                    <a:pt x="651910" y="0"/>
                  </a:lnTo>
                  <a:cubicBezTo>
                    <a:pt x="662266" y="0"/>
                    <a:pt x="670662" y="8396"/>
                    <a:pt x="670662" y="18752"/>
                  </a:cubicBezTo>
                  <a:lnTo>
                    <a:pt x="670662" y="723172"/>
                  </a:lnTo>
                  <a:cubicBezTo>
                    <a:pt x="670662" y="733528"/>
                    <a:pt x="662266" y="741924"/>
                    <a:pt x="651910" y="741924"/>
                  </a:cubicBezTo>
                  <a:lnTo>
                    <a:pt x="18752" y="741924"/>
                  </a:lnTo>
                  <a:cubicBezTo>
                    <a:pt x="8396" y="741924"/>
                    <a:pt x="0" y="733528"/>
                    <a:pt x="0" y="723172"/>
                  </a:cubicBezTo>
                  <a:lnTo>
                    <a:pt x="0" y="18752"/>
                  </a:lnTo>
                  <a:cubicBezTo>
                    <a:pt x="0" y="8396"/>
                    <a:pt x="8396" y="0"/>
                    <a:pt x="18752" y="0"/>
                  </a:cubicBezTo>
                  <a:close/>
                </a:path>
              </a:pathLst>
            </a:custGeom>
            <a:blipFill>
              <a:blip r:embed="rId5"/>
              <a:stretch>
                <a:fillRect l="0" t="-10387" r="0" b="-50314"/>
              </a:stretch>
            </a:blipFill>
          </p:spPr>
        </p:sp>
      </p:grpSp>
      <p:sp>
        <p:nvSpPr>
          <p:cNvPr name="TextBox 22" id="22"/>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23" id="23"/>
          <p:cNvSpPr txBox="true"/>
          <p:nvPr/>
        </p:nvSpPr>
        <p:spPr>
          <a:xfrm rot="0">
            <a:off x="1038278" y="389694"/>
            <a:ext cx="2104536"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24" id="24"/>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25" id="25"/>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26" id="26"/>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27" id="27"/>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28" id="28"/>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29" id="29"/>
          <p:cNvSpPr txBox="true"/>
          <p:nvPr/>
        </p:nvSpPr>
        <p:spPr>
          <a:xfrm rot="0">
            <a:off x="1243013" y="7352509"/>
            <a:ext cx="13766768" cy="1598929"/>
          </a:xfrm>
          <a:prstGeom prst="rect">
            <a:avLst/>
          </a:prstGeom>
        </p:spPr>
        <p:txBody>
          <a:bodyPr anchor="t" rtlCol="false" tIns="0" lIns="0" bIns="0" rIns="0">
            <a:spAutoFit/>
          </a:bodyPr>
          <a:lstStyle/>
          <a:p>
            <a:pPr algn="just">
              <a:lnSpc>
                <a:spcPts val="3220"/>
              </a:lnSpc>
              <a:spcBef>
                <a:spcPct val="0"/>
              </a:spcBef>
            </a:pPr>
            <a:r>
              <a:rPr lang="en-US" sz="2300">
                <a:solidFill>
                  <a:srgbClr val="000000"/>
                </a:solidFill>
                <a:latin typeface="Work Sans"/>
                <a:ea typeface="Work Sans"/>
                <a:cs typeface="Work Sans"/>
                <a:sym typeface="Work Sans"/>
              </a:rPr>
              <a:t>Lagma BIlls interagisce con l’ambiente intorno a se grazie a una telecamera </a:t>
            </a:r>
            <a:r>
              <a:rPr lang="en-US" b="true" sz="2300">
                <a:solidFill>
                  <a:srgbClr val="000000"/>
                </a:solidFill>
                <a:latin typeface="Work Sans Bold"/>
                <a:ea typeface="Work Sans Bold"/>
                <a:cs typeface="Work Sans Bold"/>
                <a:sym typeface="Work Sans Bold"/>
              </a:rPr>
              <a:t>OV5647 IR-CUT 175deg </a:t>
            </a:r>
            <a:r>
              <a:rPr lang="en-US" sz="2300">
                <a:solidFill>
                  <a:srgbClr val="000000"/>
                </a:solidFill>
                <a:latin typeface="Work Sans"/>
                <a:ea typeface="Work Sans"/>
                <a:cs typeface="Work Sans"/>
                <a:sym typeface="Work Sans"/>
              </a:rPr>
              <a:t>che streamma il video all’applicazione di controllo e all’AI che studia il video, mentre il braccio ha 3 servo motori sg90 e 3 servo MG996R con cui può interagire fisicamente rimuovendo ostacoli e sollevar eoggetti</a:t>
            </a:r>
          </a:p>
        </p:txBody>
      </p:sp>
      <p:sp>
        <p:nvSpPr>
          <p:cNvPr name="TextBox 30" id="30"/>
          <p:cNvSpPr txBox="true"/>
          <p:nvPr/>
        </p:nvSpPr>
        <p:spPr>
          <a:xfrm rot="0">
            <a:off x="1227343" y="6005674"/>
            <a:ext cx="11000134" cy="1137285"/>
          </a:xfrm>
          <a:prstGeom prst="rect">
            <a:avLst/>
          </a:prstGeom>
        </p:spPr>
        <p:txBody>
          <a:bodyPr anchor="t" rtlCol="false" tIns="0" lIns="0" bIns="0" rIns="0">
            <a:spAutoFit/>
          </a:bodyPr>
          <a:lstStyle/>
          <a:p>
            <a:pPr algn="l">
              <a:lnSpc>
                <a:spcPts val="9240"/>
              </a:lnSpc>
            </a:pPr>
            <a:r>
              <a:rPr lang="en-US" b="true" sz="6600">
                <a:solidFill>
                  <a:srgbClr val="404A9D"/>
                </a:solidFill>
                <a:latin typeface="Fraunces Bold"/>
                <a:ea typeface="Fraunces Bold"/>
                <a:cs typeface="Fraunces Bold"/>
                <a:sym typeface="Fraunces Bold"/>
              </a:rPr>
              <a:t>The Eyes and the Arm</a:t>
            </a:r>
          </a:p>
        </p:txBody>
      </p:sp>
      <p:sp>
        <p:nvSpPr>
          <p:cNvPr name="TextBox 31" id="31"/>
          <p:cNvSpPr txBox="true"/>
          <p:nvPr/>
        </p:nvSpPr>
        <p:spPr>
          <a:xfrm rot="0">
            <a:off x="1038278" y="5291631"/>
            <a:ext cx="1142642" cy="339724"/>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Fraunces"/>
                <a:ea typeface="Fraunces"/>
                <a:cs typeface="Fraunces"/>
                <a:sym typeface="Fraunces"/>
              </a:rPr>
              <a:t>01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0">
            <a:off x="12279963" y="3600450"/>
            <a:ext cx="6003644" cy="3086100"/>
            <a:chOff x="0" y="0"/>
            <a:chExt cx="1581207" cy="812800"/>
          </a:xfrm>
        </p:grpSpPr>
        <p:sp>
          <p:nvSpPr>
            <p:cNvPr name="Freeform 10" id="10"/>
            <p:cNvSpPr/>
            <p:nvPr/>
          </p:nvSpPr>
          <p:spPr>
            <a:xfrm flipH="false" flipV="false" rot="0">
              <a:off x="0" y="0"/>
              <a:ext cx="1581207" cy="812800"/>
            </a:xfrm>
            <a:custGeom>
              <a:avLst/>
              <a:gdLst/>
              <a:ahLst/>
              <a:cxnLst/>
              <a:rect r="r" b="b" t="t" l="l"/>
              <a:pathLst>
                <a:path h="812800" w="1581207">
                  <a:moveTo>
                    <a:pt x="0" y="0"/>
                  </a:moveTo>
                  <a:lnTo>
                    <a:pt x="1581207" y="0"/>
                  </a:lnTo>
                  <a:lnTo>
                    <a:pt x="1581207" y="812800"/>
                  </a:lnTo>
                  <a:lnTo>
                    <a:pt x="0" y="812800"/>
                  </a:lnTo>
                  <a:close/>
                </a:path>
              </a:pathLst>
            </a:custGeom>
            <a:solidFill>
              <a:srgbClr val="404A9D"/>
            </a:solidFill>
          </p:spPr>
        </p:sp>
        <p:sp>
          <p:nvSpPr>
            <p:cNvPr name="TextBox 11" id="11"/>
            <p:cNvSpPr txBox="true"/>
            <p:nvPr/>
          </p:nvSpPr>
          <p:spPr>
            <a:xfrm>
              <a:off x="0" y="-38100"/>
              <a:ext cx="1581207" cy="850900"/>
            </a:xfrm>
            <a:prstGeom prst="rect">
              <a:avLst/>
            </a:prstGeom>
          </p:spPr>
          <p:txBody>
            <a:bodyPr anchor="ctr" rtlCol="false" tIns="50800" lIns="50800" bIns="50800" rIns="50800"/>
            <a:lstStyle/>
            <a:p>
              <a:pPr algn="ctr">
                <a:lnSpc>
                  <a:spcPts val="2940"/>
                </a:lnSpc>
              </a:pPr>
            </a:p>
          </p:txBody>
        </p:sp>
      </p:grpSp>
      <p:sp>
        <p:nvSpPr>
          <p:cNvPr name="Freeform 12" id="12"/>
          <p:cNvSpPr/>
          <p:nvPr/>
        </p:nvSpPr>
        <p:spPr>
          <a:xfrm flipH="false" flipV="false" rot="0">
            <a:off x="8660918" y="1686612"/>
            <a:ext cx="7523815" cy="6913776"/>
          </a:xfrm>
          <a:custGeom>
            <a:avLst/>
            <a:gdLst/>
            <a:ahLst/>
            <a:cxnLst/>
            <a:rect r="r" b="b" t="t" l="l"/>
            <a:pathLst>
              <a:path h="6913776" w="7523815">
                <a:moveTo>
                  <a:pt x="0" y="0"/>
                </a:moveTo>
                <a:lnTo>
                  <a:pt x="7523815" y="0"/>
                </a:lnTo>
                <a:lnTo>
                  <a:pt x="7523815" y="6913776"/>
                </a:lnTo>
                <a:lnTo>
                  <a:pt x="0" y="6913776"/>
                </a:lnTo>
                <a:lnTo>
                  <a:pt x="0" y="0"/>
                </a:lnTo>
                <a:close/>
              </a:path>
            </a:pathLst>
          </a:custGeom>
          <a:blipFill>
            <a:blip r:embed="rId4"/>
            <a:stretch>
              <a:fillRect l="0" t="0" r="0" b="0"/>
            </a:stretch>
          </a:blipFill>
        </p:spPr>
      </p:sp>
      <p:sp>
        <p:nvSpPr>
          <p:cNvPr name="Freeform 13" id="13"/>
          <p:cNvSpPr/>
          <p:nvPr/>
        </p:nvSpPr>
        <p:spPr>
          <a:xfrm flipH="false" flipV="false" rot="0">
            <a:off x="9124876" y="6302883"/>
            <a:ext cx="3620224" cy="1628110"/>
          </a:xfrm>
          <a:custGeom>
            <a:avLst/>
            <a:gdLst/>
            <a:ahLst/>
            <a:cxnLst/>
            <a:rect r="r" b="b" t="t" l="l"/>
            <a:pathLst>
              <a:path h="1628110" w="3620224">
                <a:moveTo>
                  <a:pt x="0" y="0"/>
                </a:moveTo>
                <a:lnTo>
                  <a:pt x="3620224" y="0"/>
                </a:lnTo>
                <a:lnTo>
                  <a:pt x="3620224" y="1628110"/>
                </a:lnTo>
                <a:lnTo>
                  <a:pt x="0" y="1628110"/>
                </a:lnTo>
                <a:lnTo>
                  <a:pt x="0" y="0"/>
                </a:lnTo>
                <a:close/>
              </a:path>
            </a:pathLst>
          </a:custGeom>
          <a:blipFill>
            <a:blip r:embed="rId5"/>
            <a:stretch>
              <a:fillRect l="0" t="-20272" r="0" b="-4928"/>
            </a:stretch>
          </a:blipFill>
        </p:spPr>
      </p:sp>
      <p:sp>
        <p:nvSpPr>
          <p:cNvPr name="TextBox 14" id="14"/>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5" id="15"/>
          <p:cNvSpPr txBox="true"/>
          <p:nvPr/>
        </p:nvSpPr>
        <p:spPr>
          <a:xfrm rot="0">
            <a:off x="1038278" y="389694"/>
            <a:ext cx="1933912"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a:t>
            </a:r>
            <a:r>
              <a:rPr lang="en-US" b="true" sz="1799">
                <a:solidFill>
                  <a:srgbClr val="000000"/>
                </a:solidFill>
                <a:latin typeface="Fraunces Bold"/>
                <a:ea typeface="Fraunces Bold"/>
                <a:cs typeface="Fraunces Bold"/>
                <a:sym typeface="Fraunces Bold"/>
              </a:rPr>
              <a:t> &amp; CO.</a:t>
            </a:r>
          </a:p>
        </p:txBody>
      </p:sp>
      <p:sp>
        <p:nvSpPr>
          <p:cNvPr name="TextBox 16" id="16"/>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17" id="17"/>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18" id="18"/>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19" id="19"/>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20" id="20"/>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21" id="21"/>
          <p:cNvSpPr txBox="true"/>
          <p:nvPr/>
        </p:nvSpPr>
        <p:spPr>
          <a:xfrm rot="0">
            <a:off x="1545687" y="2463165"/>
            <a:ext cx="6648506" cy="1137285"/>
          </a:xfrm>
          <a:prstGeom prst="rect">
            <a:avLst/>
          </a:prstGeom>
        </p:spPr>
        <p:txBody>
          <a:bodyPr anchor="t" rtlCol="false" tIns="0" lIns="0" bIns="0" rIns="0">
            <a:spAutoFit/>
          </a:bodyPr>
          <a:lstStyle/>
          <a:p>
            <a:pPr algn="l">
              <a:lnSpc>
                <a:spcPts val="9240"/>
              </a:lnSpc>
              <a:spcBef>
                <a:spcPct val="0"/>
              </a:spcBef>
            </a:pPr>
            <a:r>
              <a:rPr lang="en-US" sz="6600" b="true">
                <a:solidFill>
                  <a:srgbClr val="404A9D"/>
                </a:solidFill>
                <a:latin typeface="Fraunces Bold"/>
                <a:ea typeface="Fraunces Bold"/>
                <a:cs typeface="Fraunces Bold"/>
                <a:sym typeface="Fraunces Bold"/>
              </a:rPr>
              <a:t>Odometry:</a:t>
            </a:r>
          </a:p>
        </p:txBody>
      </p:sp>
      <p:sp>
        <p:nvSpPr>
          <p:cNvPr name="TextBox 22" id="22"/>
          <p:cNvSpPr txBox="true"/>
          <p:nvPr/>
        </p:nvSpPr>
        <p:spPr>
          <a:xfrm rot="0">
            <a:off x="1545687" y="3768511"/>
            <a:ext cx="6217602" cy="3896996"/>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Work Sans"/>
                <a:ea typeface="Work Sans"/>
                <a:cs typeface="Work Sans"/>
                <a:sym typeface="Work Sans"/>
              </a:rPr>
              <a:t>Tramite la tecnologia della odometria LagmaBills è in grado di riconoscere l’ambiente intorno a se e sapere come esplorarlo autonomamente senza la necessità del controllo manuale dell’uomo, questo grazie ai 6 sensori ad ultrasuoni che comprendono le distanze e il GPS che riconosce la posizione con la triangolazione della sua posizione comunicando con più satelliti in orbita possibili.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0">
            <a:off x="12279963" y="3600450"/>
            <a:ext cx="6003644" cy="3086100"/>
            <a:chOff x="0" y="0"/>
            <a:chExt cx="1581207" cy="812800"/>
          </a:xfrm>
        </p:grpSpPr>
        <p:sp>
          <p:nvSpPr>
            <p:cNvPr name="Freeform 10" id="10"/>
            <p:cNvSpPr/>
            <p:nvPr/>
          </p:nvSpPr>
          <p:spPr>
            <a:xfrm flipH="false" flipV="false" rot="0">
              <a:off x="0" y="0"/>
              <a:ext cx="1581207" cy="812800"/>
            </a:xfrm>
            <a:custGeom>
              <a:avLst/>
              <a:gdLst/>
              <a:ahLst/>
              <a:cxnLst/>
              <a:rect r="r" b="b" t="t" l="l"/>
              <a:pathLst>
                <a:path h="812800" w="1581207">
                  <a:moveTo>
                    <a:pt x="0" y="0"/>
                  </a:moveTo>
                  <a:lnTo>
                    <a:pt x="1581207" y="0"/>
                  </a:lnTo>
                  <a:lnTo>
                    <a:pt x="1581207" y="812800"/>
                  </a:lnTo>
                  <a:lnTo>
                    <a:pt x="0" y="812800"/>
                  </a:lnTo>
                  <a:close/>
                </a:path>
              </a:pathLst>
            </a:custGeom>
            <a:solidFill>
              <a:srgbClr val="404A9D"/>
            </a:solidFill>
          </p:spPr>
        </p:sp>
        <p:sp>
          <p:nvSpPr>
            <p:cNvPr name="TextBox 11" id="11"/>
            <p:cNvSpPr txBox="true"/>
            <p:nvPr/>
          </p:nvSpPr>
          <p:spPr>
            <a:xfrm>
              <a:off x="0" y="-38100"/>
              <a:ext cx="1581207" cy="850900"/>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8521328" y="1330684"/>
            <a:ext cx="8737972" cy="8061469"/>
            <a:chOff x="0" y="0"/>
            <a:chExt cx="1031332" cy="951485"/>
          </a:xfrm>
        </p:grpSpPr>
        <p:sp>
          <p:nvSpPr>
            <p:cNvPr name="Freeform 13" id="13"/>
            <p:cNvSpPr/>
            <p:nvPr/>
          </p:nvSpPr>
          <p:spPr>
            <a:xfrm flipH="false" flipV="false" rot="0">
              <a:off x="0" y="0"/>
              <a:ext cx="1031332" cy="951485"/>
            </a:xfrm>
            <a:custGeom>
              <a:avLst/>
              <a:gdLst/>
              <a:ahLst/>
              <a:cxnLst/>
              <a:rect r="r" b="b" t="t" l="l"/>
              <a:pathLst>
                <a:path h="951485" w="1031332">
                  <a:moveTo>
                    <a:pt x="11518" y="0"/>
                  </a:moveTo>
                  <a:lnTo>
                    <a:pt x="1019814" y="0"/>
                  </a:lnTo>
                  <a:cubicBezTo>
                    <a:pt x="1026175" y="0"/>
                    <a:pt x="1031332" y="5157"/>
                    <a:pt x="1031332" y="11518"/>
                  </a:cubicBezTo>
                  <a:lnTo>
                    <a:pt x="1031332" y="939967"/>
                  </a:lnTo>
                  <a:cubicBezTo>
                    <a:pt x="1031332" y="946328"/>
                    <a:pt x="1026175" y="951485"/>
                    <a:pt x="1019814" y="951485"/>
                  </a:cubicBezTo>
                  <a:lnTo>
                    <a:pt x="11518" y="951485"/>
                  </a:lnTo>
                  <a:cubicBezTo>
                    <a:pt x="5157" y="951485"/>
                    <a:pt x="0" y="946328"/>
                    <a:pt x="0" y="939967"/>
                  </a:cubicBezTo>
                  <a:lnTo>
                    <a:pt x="0" y="11518"/>
                  </a:lnTo>
                  <a:cubicBezTo>
                    <a:pt x="0" y="5157"/>
                    <a:pt x="5157" y="0"/>
                    <a:pt x="11518" y="0"/>
                  </a:cubicBezTo>
                  <a:close/>
                </a:path>
              </a:pathLst>
            </a:custGeom>
            <a:blipFill>
              <a:blip r:embed="rId4"/>
              <a:stretch>
                <a:fillRect l="-63407" t="0" r="-606" b="0"/>
              </a:stretch>
            </a:blipFill>
          </p:spPr>
        </p:sp>
      </p:grpSp>
      <p:sp>
        <p:nvSpPr>
          <p:cNvPr name="TextBox 14" id="14"/>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5" id="15"/>
          <p:cNvSpPr txBox="true"/>
          <p:nvPr/>
        </p:nvSpPr>
        <p:spPr>
          <a:xfrm rot="0">
            <a:off x="1038278" y="389694"/>
            <a:ext cx="1933912"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16" id="16"/>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17" id="17"/>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18" id="18"/>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19" id="19"/>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20" id="20"/>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21" id="21"/>
          <p:cNvSpPr txBox="true"/>
          <p:nvPr/>
        </p:nvSpPr>
        <p:spPr>
          <a:xfrm rot="0">
            <a:off x="1410491" y="2069718"/>
            <a:ext cx="7598313" cy="1137285"/>
          </a:xfrm>
          <a:prstGeom prst="rect">
            <a:avLst/>
          </a:prstGeom>
        </p:spPr>
        <p:txBody>
          <a:bodyPr anchor="t" rtlCol="false" tIns="0" lIns="0" bIns="0" rIns="0">
            <a:spAutoFit/>
          </a:bodyPr>
          <a:lstStyle/>
          <a:p>
            <a:pPr algn="l">
              <a:lnSpc>
                <a:spcPts val="9240"/>
              </a:lnSpc>
              <a:spcBef>
                <a:spcPct val="0"/>
              </a:spcBef>
            </a:pPr>
            <a:r>
              <a:rPr lang="en-US" sz="6600" b="true">
                <a:solidFill>
                  <a:srgbClr val="404A9D"/>
                </a:solidFill>
                <a:latin typeface="Fraunces Bold"/>
                <a:ea typeface="Fraunces Bold"/>
                <a:cs typeface="Fraunces Bold"/>
                <a:sym typeface="Fraunces Bold"/>
              </a:rPr>
              <a:t>The Mind:</a:t>
            </a:r>
          </a:p>
        </p:txBody>
      </p:sp>
      <p:sp>
        <p:nvSpPr>
          <p:cNvPr name="TextBox 22" id="22"/>
          <p:cNvSpPr txBox="true"/>
          <p:nvPr/>
        </p:nvSpPr>
        <p:spPr>
          <a:xfrm rot="0">
            <a:off x="1410491" y="3543300"/>
            <a:ext cx="6243180" cy="4105911"/>
          </a:xfrm>
          <a:prstGeom prst="rect">
            <a:avLst/>
          </a:prstGeom>
        </p:spPr>
        <p:txBody>
          <a:bodyPr anchor="t" rtlCol="false" tIns="0" lIns="0" bIns="0" rIns="0">
            <a:spAutoFit/>
          </a:bodyPr>
          <a:lstStyle/>
          <a:p>
            <a:pPr algn="l">
              <a:lnSpc>
                <a:spcPts val="3639"/>
              </a:lnSpc>
            </a:pPr>
            <a:r>
              <a:rPr lang="en-US" sz="2599">
                <a:solidFill>
                  <a:srgbClr val="000000"/>
                </a:solidFill>
                <a:latin typeface="Work Sans"/>
                <a:ea typeface="Work Sans"/>
                <a:cs typeface="Work Sans"/>
                <a:sym typeface="Work Sans"/>
              </a:rPr>
              <a:t>Lagmabills usufruisce dell’utilizzo di un intelligenza artificiale attraverso un server groq dove è possibile </a:t>
            </a:r>
          </a:p>
          <a:p>
            <a:pPr algn="l">
              <a:lnSpc>
                <a:spcPts val="3639"/>
              </a:lnSpc>
              <a:spcBef>
                <a:spcPct val="0"/>
              </a:spcBef>
            </a:pPr>
            <a:r>
              <a:rPr lang="en-US" sz="2599">
                <a:solidFill>
                  <a:srgbClr val="000000"/>
                </a:solidFill>
                <a:latin typeface="Work Sans"/>
                <a:ea typeface="Work Sans"/>
                <a:cs typeface="Work Sans"/>
                <a:sym typeface="Work Sans"/>
              </a:rPr>
              <a:t>utilizzarla fino a 1000 volte al giorno in termini di chiamate più precisamente utilizziamo un modello da 120 miliardi di parametri, lo abbiamo scelto perchè ha una velocità di risposta pari a 200ms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7897" y="-168471"/>
            <a:ext cx="5060322" cy="5659036"/>
            <a:chOff x="0" y="0"/>
            <a:chExt cx="783976" cy="876733"/>
          </a:xfrm>
        </p:grpSpPr>
        <p:sp>
          <p:nvSpPr>
            <p:cNvPr name="Freeform 4" id="4"/>
            <p:cNvSpPr/>
            <p:nvPr/>
          </p:nvSpPr>
          <p:spPr>
            <a:xfrm flipH="false" flipV="false" rot="0">
              <a:off x="0" y="0"/>
              <a:ext cx="783976" cy="876733"/>
            </a:xfrm>
            <a:custGeom>
              <a:avLst/>
              <a:gdLst/>
              <a:ahLst/>
              <a:cxnLst/>
              <a:rect r="r" b="b" t="t" l="l"/>
              <a:pathLst>
                <a:path h="876733" w="783976">
                  <a:moveTo>
                    <a:pt x="19889" y="0"/>
                  </a:moveTo>
                  <a:lnTo>
                    <a:pt x="764087" y="0"/>
                  </a:lnTo>
                  <a:cubicBezTo>
                    <a:pt x="775072" y="0"/>
                    <a:pt x="783976" y="8905"/>
                    <a:pt x="783976" y="19889"/>
                  </a:cubicBezTo>
                  <a:lnTo>
                    <a:pt x="783976" y="856844"/>
                  </a:lnTo>
                  <a:cubicBezTo>
                    <a:pt x="783976" y="862119"/>
                    <a:pt x="781881" y="867177"/>
                    <a:pt x="778151" y="870907"/>
                  </a:cubicBezTo>
                  <a:cubicBezTo>
                    <a:pt x="774421" y="874637"/>
                    <a:pt x="769362" y="876733"/>
                    <a:pt x="764087" y="876733"/>
                  </a:cubicBezTo>
                  <a:lnTo>
                    <a:pt x="19889" y="876733"/>
                  </a:lnTo>
                  <a:cubicBezTo>
                    <a:pt x="8905" y="876733"/>
                    <a:pt x="0" y="867828"/>
                    <a:pt x="0" y="856844"/>
                  </a:cubicBezTo>
                  <a:lnTo>
                    <a:pt x="0" y="19889"/>
                  </a:lnTo>
                  <a:cubicBezTo>
                    <a:pt x="0" y="8905"/>
                    <a:pt x="8905" y="0"/>
                    <a:pt x="19889" y="0"/>
                  </a:cubicBezTo>
                  <a:close/>
                </a:path>
              </a:pathLst>
            </a:custGeom>
            <a:blipFill>
              <a:blip r:embed="rId4"/>
              <a:stretch>
                <a:fillRect l="-42051" t="0" r="-45900" b="0"/>
              </a:stretch>
            </a:blipFill>
          </p:spPr>
        </p:sp>
      </p:grpSp>
      <p:grpSp>
        <p:nvGrpSpPr>
          <p:cNvPr name="Group 5" id="5"/>
          <p:cNvGrpSpPr/>
          <p:nvPr/>
        </p:nvGrpSpPr>
        <p:grpSpPr>
          <a:xfrm rot="0">
            <a:off x="113692" y="-18295"/>
            <a:ext cx="804205" cy="10287000"/>
            <a:chOff x="0" y="0"/>
            <a:chExt cx="211807" cy="2709333"/>
          </a:xfrm>
        </p:grpSpPr>
        <p:sp>
          <p:nvSpPr>
            <p:cNvPr name="Freeform 6" id="6"/>
            <p:cNvSpPr/>
            <p:nvPr/>
          </p:nvSpPr>
          <p:spPr>
            <a:xfrm flipH="false" flipV="false" rot="0">
              <a:off x="0" y="0"/>
              <a:ext cx="211807" cy="2709333"/>
            </a:xfrm>
            <a:custGeom>
              <a:avLst/>
              <a:gdLst/>
              <a:ahLst/>
              <a:cxnLst/>
              <a:rect r="r" b="b" t="t" l="l"/>
              <a:pathLst>
                <a:path h="2709333" w="211807">
                  <a:moveTo>
                    <a:pt x="0" y="0"/>
                  </a:moveTo>
                  <a:lnTo>
                    <a:pt x="211807" y="0"/>
                  </a:lnTo>
                  <a:lnTo>
                    <a:pt x="211807" y="2709333"/>
                  </a:lnTo>
                  <a:lnTo>
                    <a:pt x="0" y="2709333"/>
                  </a:lnTo>
                  <a:close/>
                </a:path>
              </a:pathLst>
            </a:custGeom>
            <a:solidFill>
              <a:srgbClr val="404A9D"/>
            </a:solidFill>
          </p:spPr>
        </p:sp>
        <p:sp>
          <p:nvSpPr>
            <p:cNvPr name="TextBox 7" id="7"/>
            <p:cNvSpPr txBox="true"/>
            <p:nvPr/>
          </p:nvSpPr>
          <p:spPr>
            <a:xfrm>
              <a:off x="0" y="-57150"/>
              <a:ext cx="211807" cy="2766483"/>
            </a:xfrm>
            <a:prstGeom prst="rect">
              <a:avLst/>
            </a:prstGeom>
          </p:spPr>
          <p:txBody>
            <a:bodyPr anchor="ctr" rtlCol="false" tIns="50800" lIns="50800" bIns="50800" rIns="50800"/>
            <a:lstStyle/>
            <a:p>
              <a:pPr algn="ctr">
                <a:lnSpc>
                  <a:spcPts val="2519"/>
                </a:lnSpc>
              </a:pPr>
            </a:p>
          </p:txBody>
        </p:sp>
      </p:grpSp>
      <p:grpSp>
        <p:nvGrpSpPr>
          <p:cNvPr name="Group 8" id="8"/>
          <p:cNvGrpSpPr/>
          <p:nvPr/>
        </p:nvGrpSpPr>
        <p:grpSpPr>
          <a:xfrm rot="0">
            <a:off x="917897" y="5143500"/>
            <a:ext cx="5060322" cy="5659036"/>
            <a:chOff x="0" y="0"/>
            <a:chExt cx="783976" cy="876733"/>
          </a:xfrm>
        </p:grpSpPr>
        <p:sp>
          <p:nvSpPr>
            <p:cNvPr name="Freeform 9" id="9"/>
            <p:cNvSpPr/>
            <p:nvPr/>
          </p:nvSpPr>
          <p:spPr>
            <a:xfrm flipH="false" flipV="false" rot="0">
              <a:off x="0" y="0"/>
              <a:ext cx="783976" cy="876733"/>
            </a:xfrm>
            <a:custGeom>
              <a:avLst/>
              <a:gdLst/>
              <a:ahLst/>
              <a:cxnLst/>
              <a:rect r="r" b="b" t="t" l="l"/>
              <a:pathLst>
                <a:path h="876733" w="783976">
                  <a:moveTo>
                    <a:pt x="19889" y="0"/>
                  </a:moveTo>
                  <a:lnTo>
                    <a:pt x="764087" y="0"/>
                  </a:lnTo>
                  <a:cubicBezTo>
                    <a:pt x="775072" y="0"/>
                    <a:pt x="783976" y="8905"/>
                    <a:pt x="783976" y="19889"/>
                  </a:cubicBezTo>
                  <a:lnTo>
                    <a:pt x="783976" y="856844"/>
                  </a:lnTo>
                  <a:cubicBezTo>
                    <a:pt x="783976" y="862119"/>
                    <a:pt x="781881" y="867177"/>
                    <a:pt x="778151" y="870907"/>
                  </a:cubicBezTo>
                  <a:cubicBezTo>
                    <a:pt x="774421" y="874637"/>
                    <a:pt x="769362" y="876733"/>
                    <a:pt x="764087" y="876733"/>
                  </a:cubicBezTo>
                  <a:lnTo>
                    <a:pt x="19889" y="876733"/>
                  </a:lnTo>
                  <a:cubicBezTo>
                    <a:pt x="8905" y="876733"/>
                    <a:pt x="0" y="867828"/>
                    <a:pt x="0" y="856844"/>
                  </a:cubicBezTo>
                  <a:lnTo>
                    <a:pt x="0" y="19889"/>
                  </a:lnTo>
                  <a:cubicBezTo>
                    <a:pt x="0" y="8905"/>
                    <a:pt x="8905" y="0"/>
                    <a:pt x="19889" y="0"/>
                  </a:cubicBezTo>
                  <a:close/>
                </a:path>
              </a:pathLst>
            </a:custGeom>
            <a:blipFill>
              <a:blip r:embed="rId5"/>
              <a:stretch>
                <a:fillRect l="-49849" t="0" r="-49849" b="0"/>
              </a:stretch>
            </a:blipFill>
          </p:spPr>
        </p:sp>
      </p:grpSp>
      <p:grpSp>
        <p:nvGrpSpPr>
          <p:cNvPr name="Group 10" id="10"/>
          <p:cNvGrpSpPr/>
          <p:nvPr/>
        </p:nvGrpSpPr>
        <p:grpSpPr>
          <a:xfrm rot="0">
            <a:off x="880483" y="9589314"/>
            <a:ext cx="679390" cy="67939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68372" y="0"/>
                  </a:moveTo>
                  <a:lnTo>
                    <a:pt x="744428" y="0"/>
                  </a:lnTo>
                  <a:cubicBezTo>
                    <a:pt x="762561" y="0"/>
                    <a:pt x="779952" y="7203"/>
                    <a:pt x="792774" y="20026"/>
                  </a:cubicBezTo>
                  <a:cubicBezTo>
                    <a:pt x="805597" y="32848"/>
                    <a:pt x="812800" y="50239"/>
                    <a:pt x="812800" y="68372"/>
                  </a:cubicBezTo>
                  <a:lnTo>
                    <a:pt x="812800" y="744428"/>
                  </a:lnTo>
                  <a:cubicBezTo>
                    <a:pt x="812800" y="762561"/>
                    <a:pt x="805597" y="779952"/>
                    <a:pt x="792774" y="792774"/>
                  </a:cubicBezTo>
                  <a:cubicBezTo>
                    <a:pt x="779952" y="805597"/>
                    <a:pt x="762561" y="812800"/>
                    <a:pt x="744428" y="812800"/>
                  </a:cubicBezTo>
                  <a:lnTo>
                    <a:pt x="68372" y="812800"/>
                  </a:lnTo>
                  <a:cubicBezTo>
                    <a:pt x="50239" y="812800"/>
                    <a:pt x="32848" y="805597"/>
                    <a:pt x="20026" y="792774"/>
                  </a:cubicBezTo>
                  <a:cubicBezTo>
                    <a:pt x="7203" y="779952"/>
                    <a:pt x="0" y="762561"/>
                    <a:pt x="0" y="744428"/>
                  </a:cubicBezTo>
                  <a:lnTo>
                    <a:pt x="0" y="68372"/>
                  </a:lnTo>
                  <a:cubicBezTo>
                    <a:pt x="0" y="50239"/>
                    <a:pt x="7203" y="32848"/>
                    <a:pt x="20026" y="20026"/>
                  </a:cubicBezTo>
                  <a:cubicBezTo>
                    <a:pt x="32848" y="7203"/>
                    <a:pt x="50239" y="0"/>
                    <a:pt x="68372" y="0"/>
                  </a:cubicBezTo>
                  <a:close/>
                </a:path>
              </a:pathLst>
            </a:custGeom>
            <a:solidFill>
              <a:srgbClr val="022D66"/>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380"/>
                </a:lnSpc>
              </a:pPr>
            </a:p>
          </p:txBody>
        </p:sp>
      </p:grpSp>
      <p:sp>
        <p:nvSpPr>
          <p:cNvPr name="TextBox 13" id="13"/>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4" id="14"/>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FFFFFF"/>
                </a:solidFill>
                <a:latin typeface="Work Sans"/>
                <a:ea typeface="Work Sans"/>
                <a:cs typeface="Work Sans"/>
                <a:sym typeface="Work Sans"/>
              </a:rPr>
              <a:t>Service</a:t>
            </a:r>
          </a:p>
        </p:txBody>
      </p:sp>
      <p:sp>
        <p:nvSpPr>
          <p:cNvPr name="TextBox 15" id="15"/>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FFFFFF"/>
                </a:solidFill>
                <a:latin typeface="Work Sans"/>
                <a:ea typeface="Work Sans"/>
                <a:cs typeface="Work Sans"/>
                <a:sym typeface="Work Sans"/>
              </a:rPr>
              <a:t>Team</a:t>
            </a:r>
          </a:p>
        </p:txBody>
      </p:sp>
      <p:sp>
        <p:nvSpPr>
          <p:cNvPr name="TextBox 16" id="16"/>
          <p:cNvSpPr txBox="true"/>
          <p:nvPr/>
        </p:nvSpPr>
        <p:spPr>
          <a:xfrm rot="0">
            <a:off x="6273493" y="1334023"/>
            <a:ext cx="7617781" cy="2037461"/>
          </a:xfrm>
          <a:prstGeom prst="rect">
            <a:avLst/>
          </a:prstGeom>
        </p:spPr>
        <p:txBody>
          <a:bodyPr anchor="t" rtlCol="false" tIns="0" lIns="0" bIns="0" rIns="0">
            <a:spAutoFit/>
          </a:bodyPr>
          <a:lstStyle/>
          <a:p>
            <a:pPr algn="l">
              <a:lnSpc>
                <a:spcPts val="8091"/>
              </a:lnSpc>
            </a:pPr>
            <a:r>
              <a:rPr lang="en-US" sz="6799" b="true">
                <a:solidFill>
                  <a:srgbClr val="404A9D"/>
                </a:solidFill>
                <a:latin typeface="Fraunces Bold"/>
                <a:ea typeface="Fraunces Bold"/>
                <a:cs typeface="Fraunces Bold"/>
                <a:sym typeface="Fraunces Bold"/>
              </a:rPr>
              <a:t>AI ARCHITECTURE</a:t>
            </a:r>
          </a:p>
        </p:txBody>
      </p:sp>
      <p:sp>
        <p:nvSpPr>
          <p:cNvPr name="TextBox 17" id="17"/>
          <p:cNvSpPr txBox="true"/>
          <p:nvPr/>
        </p:nvSpPr>
        <p:spPr>
          <a:xfrm rot="0">
            <a:off x="6273493" y="3323859"/>
            <a:ext cx="11266685" cy="316229"/>
          </a:xfrm>
          <a:prstGeom prst="rect">
            <a:avLst/>
          </a:prstGeom>
        </p:spPr>
        <p:txBody>
          <a:bodyPr anchor="t" rtlCol="false" tIns="0" lIns="0" bIns="0" rIns="0">
            <a:spAutoFit/>
          </a:bodyPr>
          <a:lstStyle/>
          <a:p>
            <a:pPr algn="l">
              <a:lnSpc>
                <a:spcPts val="2520"/>
              </a:lnSpc>
              <a:spcBef>
                <a:spcPct val="0"/>
              </a:spcBef>
            </a:pPr>
          </a:p>
        </p:txBody>
      </p:sp>
      <p:sp>
        <p:nvSpPr>
          <p:cNvPr name="TextBox 18" id="18"/>
          <p:cNvSpPr txBox="true"/>
          <p:nvPr/>
        </p:nvSpPr>
        <p:spPr>
          <a:xfrm rot="0">
            <a:off x="983360" y="9763592"/>
            <a:ext cx="473635" cy="283210"/>
          </a:xfrm>
          <a:prstGeom prst="rect">
            <a:avLst/>
          </a:prstGeom>
        </p:spPr>
        <p:txBody>
          <a:bodyPr anchor="t" rtlCol="false" tIns="0" lIns="0" bIns="0" rIns="0">
            <a:spAutoFit/>
          </a:bodyPr>
          <a:lstStyle/>
          <a:p>
            <a:pPr algn="ctr">
              <a:lnSpc>
                <a:spcPts val="2240"/>
              </a:lnSpc>
              <a:spcBef>
                <a:spcPct val="0"/>
              </a:spcBef>
            </a:pPr>
            <a:r>
              <a:rPr lang="en-US" sz="1600">
                <a:solidFill>
                  <a:srgbClr val="FFFFFF"/>
                </a:solidFill>
                <a:latin typeface="Work Sans"/>
                <a:ea typeface="Work Sans"/>
                <a:cs typeface="Work Sans"/>
                <a:sym typeface="Work Sans"/>
              </a:rPr>
              <a:t>02</a:t>
            </a:r>
          </a:p>
        </p:txBody>
      </p:sp>
      <p:sp>
        <p:nvSpPr>
          <p:cNvPr name="TextBox 19" id="19"/>
          <p:cNvSpPr txBox="true"/>
          <p:nvPr/>
        </p:nvSpPr>
        <p:spPr>
          <a:xfrm rot="0">
            <a:off x="6273493" y="3554363"/>
            <a:ext cx="11486965" cy="4948956"/>
          </a:xfrm>
          <a:prstGeom prst="rect">
            <a:avLst/>
          </a:prstGeom>
        </p:spPr>
        <p:txBody>
          <a:bodyPr anchor="t" rtlCol="false" tIns="0" lIns="0" bIns="0" rIns="0">
            <a:spAutoFit/>
          </a:bodyPr>
          <a:lstStyle/>
          <a:p>
            <a:pPr algn="l">
              <a:lnSpc>
                <a:spcPts val="4947"/>
              </a:lnSpc>
            </a:pPr>
            <a:r>
              <a:rPr lang="en-US" sz="3534">
                <a:solidFill>
                  <a:srgbClr val="000000"/>
                </a:solidFill>
                <a:latin typeface="Work Sans"/>
                <a:ea typeface="Work Sans"/>
                <a:cs typeface="Work Sans"/>
                <a:sym typeface="Work Sans"/>
              </a:rPr>
              <a:t>Esso è provvisto anche di una visione artificiale dove è in grado di capire la maggior parte degli oggetti che gli vengono posti davanti.</a:t>
            </a:r>
          </a:p>
          <a:p>
            <a:pPr algn="l">
              <a:lnSpc>
                <a:spcPts val="4947"/>
              </a:lnSpc>
              <a:spcBef>
                <a:spcPct val="0"/>
              </a:spcBef>
            </a:pPr>
            <a:r>
              <a:rPr lang="en-US" sz="3534">
                <a:solidFill>
                  <a:srgbClr val="000000"/>
                </a:solidFill>
                <a:latin typeface="Work Sans"/>
                <a:ea typeface="Work Sans"/>
                <a:cs typeface="Work Sans"/>
                <a:sym typeface="Work Sans"/>
              </a:rPr>
              <a:t>Abbiamo utilizzato Whisper per trasformare le voci delle persone in parole che l’IA è in grado di capire, e  invece abbiamo usato piperTTS per creare una voce che il rasberry riproduce quando riceve cosa deve dire dall’intelligenza.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66639" y="359026"/>
            <a:ext cx="2402837" cy="406141"/>
            <a:chOff x="0" y="0"/>
            <a:chExt cx="632846" cy="106967"/>
          </a:xfrm>
        </p:grpSpPr>
        <p:sp>
          <p:nvSpPr>
            <p:cNvPr name="Freeform 3" id="3"/>
            <p:cNvSpPr/>
            <p:nvPr/>
          </p:nvSpPr>
          <p:spPr>
            <a:xfrm flipH="false" flipV="false" rot="0">
              <a:off x="0" y="0"/>
              <a:ext cx="632846" cy="106967"/>
            </a:xfrm>
            <a:custGeom>
              <a:avLst/>
              <a:gdLst/>
              <a:ahLst/>
              <a:cxnLst/>
              <a:rect r="r" b="b" t="t" l="l"/>
              <a:pathLst>
                <a:path h="106967" w="632846">
                  <a:moveTo>
                    <a:pt x="32220" y="0"/>
                  </a:moveTo>
                  <a:lnTo>
                    <a:pt x="600626" y="0"/>
                  </a:lnTo>
                  <a:cubicBezTo>
                    <a:pt x="618421" y="0"/>
                    <a:pt x="632846" y="14425"/>
                    <a:pt x="632846" y="32220"/>
                  </a:cubicBezTo>
                  <a:lnTo>
                    <a:pt x="632846" y="74747"/>
                  </a:lnTo>
                  <a:cubicBezTo>
                    <a:pt x="632846" y="92542"/>
                    <a:pt x="618421" y="106967"/>
                    <a:pt x="600626" y="106967"/>
                  </a:cubicBezTo>
                  <a:lnTo>
                    <a:pt x="32220" y="106967"/>
                  </a:lnTo>
                  <a:cubicBezTo>
                    <a:pt x="23675" y="106967"/>
                    <a:pt x="15479" y="103572"/>
                    <a:pt x="9437" y="97530"/>
                  </a:cubicBezTo>
                  <a:cubicBezTo>
                    <a:pt x="3395" y="91488"/>
                    <a:pt x="0" y="83292"/>
                    <a:pt x="0" y="74747"/>
                  </a:cubicBezTo>
                  <a:lnTo>
                    <a:pt x="0" y="32220"/>
                  </a:lnTo>
                  <a:cubicBezTo>
                    <a:pt x="0" y="14425"/>
                    <a:pt x="14425" y="0"/>
                    <a:pt x="32220" y="0"/>
                  </a:cubicBezTo>
                  <a:close/>
                </a:path>
              </a:pathLst>
            </a:custGeom>
            <a:solidFill>
              <a:srgbClr val="022D66"/>
            </a:solidFill>
            <a:ln cap="sq">
              <a:noFill/>
              <a:prstDash val="solid"/>
              <a:miter/>
            </a:ln>
          </p:spPr>
        </p:sp>
        <p:sp>
          <p:nvSpPr>
            <p:cNvPr name="TextBox 4" id="4"/>
            <p:cNvSpPr txBox="true"/>
            <p:nvPr/>
          </p:nvSpPr>
          <p:spPr>
            <a:xfrm>
              <a:off x="0" y="-57150"/>
              <a:ext cx="632846" cy="164117"/>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3476031" y="432785"/>
            <a:ext cx="235582" cy="258623"/>
          </a:xfrm>
          <a:custGeom>
            <a:avLst/>
            <a:gdLst/>
            <a:ahLst/>
            <a:cxnLst/>
            <a:rect r="r" b="b" t="t" l="l"/>
            <a:pathLst>
              <a:path h="258623" w="235582">
                <a:moveTo>
                  <a:pt x="0" y="0"/>
                </a:moveTo>
                <a:lnTo>
                  <a:pt x="235582" y="0"/>
                </a:lnTo>
                <a:lnTo>
                  <a:pt x="235582" y="258623"/>
                </a:lnTo>
                <a:lnTo>
                  <a:pt x="0" y="258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840723" y="359026"/>
            <a:ext cx="1418577" cy="406141"/>
            <a:chOff x="0" y="0"/>
            <a:chExt cx="373617" cy="106967"/>
          </a:xfrm>
        </p:grpSpPr>
        <p:sp>
          <p:nvSpPr>
            <p:cNvPr name="Freeform 7" id="7"/>
            <p:cNvSpPr/>
            <p:nvPr/>
          </p:nvSpPr>
          <p:spPr>
            <a:xfrm flipH="false" flipV="false" rot="0">
              <a:off x="0" y="0"/>
              <a:ext cx="373617" cy="106967"/>
            </a:xfrm>
            <a:custGeom>
              <a:avLst/>
              <a:gdLst/>
              <a:ahLst/>
              <a:cxnLst/>
              <a:rect r="r" b="b" t="t" l="l"/>
              <a:pathLst>
                <a:path h="106967" w="373617">
                  <a:moveTo>
                    <a:pt x="53484" y="0"/>
                  </a:moveTo>
                  <a:lnTo>
                    <a:pt x="320133" y="0"/>
                  </a:lnTo>
                  <a:cubicBezTo>
                    <a:pt x="334318" y="0"/>
                    <a:pt x="347922" y="5635"/>
                    <a:pt x="357952" y="15665"/>
                  </a:cubicBezTo>
                  <a:cubicBezTo>
                    <a:pt x="367982" y="25695"/>
                    <a:pt x="373617" y="39299"/>
                    <a:pt x="373617" y="53484"/>
                  </a:cubicBezTo>
                  <a:lnTo>
                    <a:pt x="373617" y="53484"/>
                  </a:lnTo>
                  <a:cubicBezTo>
                    <a:pt x="373617" y="83022"/>
                    <a:pt x="349672" y="106967"/>
                    <a:pt x="320133" y="106967"/>
                  </a:cubicBezTo>
                  <a:lnTo>
                    <a:pt x="53484" y="106967"/>
                  </a:lnTo>
                  <a:cubicBezTo>
                    <a:pt x="39299" y="106967"/>
                    <a:pt x="25695" y="101332"/>
                    <a:pt x="15665" y="91302"/>
                  </a:cubicBezTo>
                  <a:cubicBezTo>
                    <a:pt x="5635" y="81272"/>
                    <a:pt x="0" y="67668"/>
                    <a:pt x="0" y="53484"/>
                  </a:cubicBezTo>
                  <a:lnTo>
                    <a:pt x="0" y="53484"/>
                  </a:lnTo>
                  <a:cubicBezTo>
                    <a:pt x="0" y="39299"/>
                    <a:pt x="5635" y="25695"/>
                    <a:pt x="15665" y="15665"/>
                  </a:cubicBezTo>
                  <a:cubicBezTo>
                    <a:pt x="25695" y="5635"/>
                    <a:pt x="39299" y="0"/>
                    <a:pt x="53484" y="0"/>
                  </a:cubicBezTo>
                  <a:close/>
                </a:path>
              </a:pathLst>
            </a:custGeom>
            <a:solidFill>
              <a:srgbClr val="022D66"/>
            </a:solidFill>
            <a:ln cap="sq">
              <a:noFill/>
              <a:prstDash val="solid"/>
              <a:miter/>
            </a:ln>
          </p:spPr>
        </p:sp>
        <p:sp>
          <p:nvSpPr>
            <p:cNvPr name="TextBox 8" id="8"/>
            <p:cNvSpPr txBox="true"/>
            <p:nvPr/>
          </p:nvSpPr>
          <p:spPr>
            <a:xfrm>
              <a:off x="0" y="-57150"/>
              <a:ext cx="373617" cy="164117"/>
            </a:xfrm>
            <a:prstGeom prst="rect">
              <a:avLst/>
            </a:prstGeom>
          </p:spPr>
          <p:txBody>
            <a:bodyPr anchor="ctr" rtlCol="false" tIns="50800" lIns="50800" bIns="50800" rIns="50800"/>
            <a:lstStyle/>
            <a:p>
              <a:pPr algn="ctr">
                <a:lnSpc>
                  <a:spcPts val="2519"/>
                </a:lnSpc>
              </a:pPr>
            </a:p>
          </p:txBody>
        </p:sp>
      </p:grpSp>
      <p:grpSp>
        <p:nvGrpSpPr>
          <p:cNvPr name="Group 9" id="9"/>
          <p:cNvGrpSpPr/>
          <p:nvPr/>
        </p:nvGrpSpPr>
        <p:grpSpPr>
          <a:xfrm rot="0">
            <a:off x="10109255" y="2408542"/>
            <a:ext cx="8178745" cy="3086100"/>
            <a:chOff x="0" y="0"/>
            <a:chExt cx="2154073" cy="812800"/>
          </a:xfrm>
        </p:grpSpPr>
        <p:sp>
          <p:nvSpPr>
            <p:cNvPr name="Freeform 10" id="10"/>
            <p:cNvSpPr/>
            <p:nvPr/>
          </p:nvSpPr>
          <p:spPr>
            <a:xfrm flipH="false" flipV="false" rot="0">
              <a:off x="0" y="0"/>
              <a:ext cx="2154073" cy="812800"/>
            </a:xfrm>
            <a:custGeom>
              <a:avLst/>
              <a:gdLst/>
              <a:ahLst/>
              <a:cxnLst/>
              <a:rect r="r" b="b" t="t" l="l"/>
              <a:pathLst>
                <a:path h="812800" w="2154073">
                  <a:moveTo>
                    <a:pt x="0" y="0"/>
                  </a:moveTo>
                  <a:lnTo>
                    <a:pt x="2154073" y="0"/>
                  </a:lnTo>
                  <a:lnTo>
                    <a:pt x="2154073" y="812800"/>
                  </a:lnTo>
                  <a:lnTo>
                    <a:pt x="0" y="812800"/>
                  </a:lnTo>
                  <a:close/>
                </a:path>
              </a:pathLst>
            </a:custGeom>
            <a:solidFill>
              <a:srgbClr val="404A9D"/>
            </a:solidFill>
          </p:spPr>
        </p:sp>
        <p:sp>
          <p:nvSpPr>
            <p:cNvPr name="TextBox 11" id="11"/>
            <p:cNvSpPr txBox="true"/>
            <p:nvPr/>
          </p:nvSpPr>
          <p:spPr>
            <a:xfrm>
              <a:off x="0" y="-57150"/>
              <a:ext cx="2154073" cy="869950"/>
            </a:xfrm>
            <a:prstGeom prst="rect">
              <a:avLst/>
            </a:prstGeom>
          </p:spPr>
          <p:txBody>
            <a:bodyPr anchor="ctr" rtlCol="false" tIns="50800" lIns="50800" bIns="50800" rIns="50800"/>
            <a:lstStyle/>
            <a:p>
              <a:pPr algn="ctr">
                <a:lnSpc>
                  <a:spcPts val="2519"/>
                </a:lnSpc>
              </a:pPr>
            </a:p>
          </p:txBody>
        </p:sp>
      </p:grpSp>
      <p:sp>
        <p:nvSpPr>
          <p:cNvPr name="Freeform 12" id="12"/>
          <p:cNvSpPr/>
          <p:nvPr/>
        </p:nvSpPr>
        <p:spPr>
          <a:xfrm flipH="false" flipV="false" rot="0">
            <a:off x="1488775" y="5297704"/>
            <a:ext cx="7833980" cy="4589246"/>
          </a:xfrm>
          <a:custGeom>
            <a:avLst/>
            <a:gdLst/>
            <a:ahLst/>
            <a:cxnLst/>
            <a:rect r="r" b="b" t="t" l="l"/>
            <a:pathLst>
              <a:path h="4589246" w="7833980">
                <a:moveTo>
                  <a:pt x="0" y="0"/>
                </a:moveTo>
                <a:lnTo>
                  <a:pt x="7833980" y="0"/>
                </a:lnTo>
                <a:lnTo>
                  <a:pt x="7833980" y="4589246"/>
                </a:lnTo>
                <a:lnTo>
                  <a:pt x="0" y="4589246"/>
                </a:lnTo>
                <a:lnTo>
                  <a:pt x="0" y="0"/>
                </a:lnTo>
                <a:close/>
              </a:path>
            </a:pathLst>
          </a:custGeom>
          <a:blipFill>
            <a:blip r:embed="rId4"/>
            <a:stretch>
              <a:fillRect l="0" t="-17453" r="-892" b="-11716"/>
            </a:stretch>
          </a:blipFill>
        </p:spPr>
      </p:sp>
      <p:sp>
        <p:nvSpPr>
          <p:cNvPr name="TextBox 13" id="13"/>
          <p:cNvSpPr txBox="true"/>
          <p:nvPr/>
        </p:nvSpPr>
        <p:spPr>
          <a:xfrm rot="0">
            <a:off x="16013508" y="443986"/>
            <a:ext cx="1073008" cy="207645"/>
          </a:xfrm>
          <a:prstGeom prst="rect">
            <a:avLst/>
          </a:prstGeom>
        </p:spPr>
        <p:txBody>
          <a:bodyPr anchor="t" rtlCol="false" tIns="0" lIns="0" bIns="0" rIns="0">
            <a:spAutoFit/>
          </a:bodyPr>
          <a:lstStyle/>
          <a:p>
            <a:pPr algn="ctr">
              <a:lnSpc>
                <a:spcPts val="1679"/>
              </a:lnSpc>
              <a:spcBef>
                <a:spcPct val="0"/>
              </a:spcBef>
            </a:pPr>
            <a:r>
              <a:rPr lang="en-US" sz="1200">
                <a:solidFill>
                  <a:srgbClr val="FFFFFF"/>
                </a:solidFill>
                <a:latin typeface="Work Sans"/>
                <a:ea typeface="Work Sans"/>
                <a:cs typeface="Work Sans"/>
                <a:sym typeface="Work Sans"/>
              </a:rPr>
              <a:t>Log In</a:t>
            </a:r>
          </a:p>
        </p:txBody>
      </p:sp>
      <p:sp>
        <p:nvSpPr>
          <p:cNvPr name="TextBox 14" id="14"/>
          <p:cNvSpPr txBox="true"/>
          <p:nvPr/>
        </p:nvSpPr>
        <p:spPr>
          <a:xfrm rot="0">
            <a:off x="1038278" y="389694"/>
            <a:ext cx="2104536" cy="306705"/>
          </a:xfrm>
          <a:prstGeom prst="rect">
            <a:avLst/>
          </a:prstGeom>
        </p:spPr>
        <p:txBody>
          <a:bodyPr anchor="t" rtlCol="false" tIns="0" lIns="0" bIns="0" rIns="0">
            <a:spAutoFit/>
          </a:bodyPr>
          <a:lstStyle/>
          <a:p>
            <a:pPr algn="l">
              <a:lnSpc>
                <a:spcPts val="2519"/>
              </a:lnSpc>
              <a:spcBef>
                <a:spcPct val="0"/>
              </a:spcBef>
            </a:pPr>
            <a:r>
              <a:rPr lang="en-US" b="true" sz="1799">
                <a:solidFill>
                  <a:srgbClr val="000000"/>
                </a:solidFill>
                <a:latin typeface="Fraunces Bold"/>
                <a:ea typeface="Fraunces Bold"/>
                <a:cs typeface="Fraunces Bold"/>
                <a:sym typeface="Fraunces Bold"/>
              </a:rPr>
              <a:t>SIGMA </a:t>
            </a:r>
            <a:r>
              <a:rPr lang="en-US" b="true" sz="1799">
                <a:solidFill>
                  <a:srgbClr val="000000"/>
                </a:solidFill>
                <a:latin typeface="Fraunces Bold"/>
                <a:ea typeface="Fraunces Bold"/>
                <a:cs typeface="Fraunces Bold"/>
                <a:sym typeface="Fraunces Bold"/>
              </a:rPr>
              <a:t>&amp; CO.</a:t>
            </a:r>
          </a:p>
        </p:txBody>
      </p:sp>
      <p:sp>
        <p:nvSpPr>
          <p:cNvPr name="TextBox 15" id="15"/>
          <p:cNvSpPr txBox="true"/>
          <p:nvPr/>
        </p:nvSpPr>
        <p:spPr>
          <a:xfrm rot="0">
            <a:off x="11814826"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About</a:t>
            </a:r>
          </a:p>
        </p:txBody>
      </p:sp>
      <p:sp>
        <p:nvSpPr>
          <p:cNvPr name="TextBox 16" id="16"/>
          <p:cNvSpPr txBox="true"/>
          <p:nvPr/>
        </p:nvSpPr>
        <p:spPr>
          <a:xfrm rot="0">
            <a:off x="12853050"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Project</a:t>
            </a:r>
          </a:p>
        </p:txBody>
      </p:sp>
      <p:sp>
        <p:nvSpPr>
          <p:cNvPr name="TextBox 17" id="17"/>
          <p:cNvSpPr txBox="true"/>
          <p:nvPr/>
        </p:nvSpPr>
        <p:spPr>
          <a:xfrm rot="0">
            <a:off x="13891274" y="443986"/>
            <a:ext cx="930274"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Service</a:t>
            </a:r>
          </a:p>
        </p:txBody>
      </p:sp>
      <p:sp>
        <p:nvSpPr>
          <p:cNvPr name="TextBox 18" id="18"/>
          <p:cNvSpPr txBox="true"/>
          <p:nvPr/>
        </p:nvSpPr>
        <p:spPr>
          <a:xfrm rot="0">
            <a:off x="14929498" y="443986"/>
            <a:ext cx="788510" cy="207645"/>
          </a:xfrm>
          <a:prstGeom prst="rect">
            <a:avLst/>
          </a:prstGeom>
        </p:spPr>
        <p:txBody>
          <a:bodyPr anchor="t" rtlCol="false" tIns="0" lIns="0" bIns="0" rIns="0">
            <a:spAutoFit/>
          </a:bodyPr>
          <a:lstStyle/>
          <a:p>
            <a:pPr algn="l">
              <a:lnSpc>
                <a:spcPts val="1679"/>
              </a:lnSpc>
              <a:spcBef>
                <a:spcPct val="0"/>
              </a:spcBef>
            </a:pPr>
            <a:r>
              <a:rPr lang="en-US" sz="1200">
                <a:solidFill>
                  <a:srgbClr val="000000"/>
                </a:solidFill>
                <a:latin typeface="Work Sans"/>
                <a:ea typeface="Work Sans"/>
                <a:cs typeface="Work Sans"/>
                <a:sym typeface="Work Sans"/>
              </a:rPr>
              <a:t>Team</a:t>
            </a:r>
          </a:p>
        </p:txBody>
      </p:sp>
      <p:sp>
        <p:nvSpPr>
          <p:cNvPr name="TextBox 19" id="19"/>
          <p:cNvSpPr txBox="true"/>
          <p:nvPr/>
        </p:nvSpPr>
        <p:spPr>
          <a:xfrm rot="0">
            <a:off x="3987015" y="443986"/>
            <a:ext cx="1242391" cy="207645"/>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Work Sans"/>
                <a:ea typeface="Work Sans"/>
                <a:cs typeface="Work Sans"/>
                <a:sym typeface="Work Sans"/>
              </a:rPr>
              <a:t>Search...</a:t>
            </a:r>
          </a:p>
        </p:txBody>
      </p:sp>
      <p:sp>
        <p:nvSpPr>
          <p:cNvPr name="TextBox 20" id="20"/>
          <p:cNvSpPr txBox="true"/>
          <p:nvPr/>
        </p:nvSpPr>
        <p:spPr>
          <a:xfrm rot="0">
            <a:off x="1361328" y="1292060"/>
            <a:ext cx="7961427" cy="2037461"/>
          </a:xfrm>
          <a:prstGeom prst="rect">
            <a:avLst/>
          </a:prstGeom>
        </p:spPr>
        <p:txBody>
          <a:bodyPr anchor="t" rtlCol="false" tIns="0" lIns="0" bIns="0" rIns="0">
            <a:spAutoFit/>
          </a:bodyPr>
          <a:lstStyle/>
          <a:p>
            <a:pPr algn="l">
              <a:lnSpc>
                <a:spcPts val="8091"/>
              </a:lnSpc>
            </a:pPr>
            <a:r>
              <a:rPr lang="en-US" sz="6799" b="true">
                <a:solidFill>
                  <a:srgbClr val="404A9D"/>
                </a:solidFill>
                <a:latin typeface="Fraunces Bold"/>
                <a:ea typeface="Fraunces Bold"/>
                <a:cs typeface="Fraunces Bold"/>
                <a:sym typeface="Fraunces Bold"/>
              </a:rPr>
              <a:t>Why LagmaBills Can Fly?</a:t>
            </a:r>
          </a:p>
        </p:txBody>
      </p:sp>
      <p:sp>
        <p:nvSpPr>
          <p:cNvPr name="TextBox 21" id="21"/>
          <p:cNvSpPr txBox="true"/>
          <p:nvPr/>
        </p:nvSpPr>
        <p:spPr>
          <a:xfrm rot="0">
            <a:off x="1488775" y="3353334"/>
            <a:ext cx="817262" cy="762001"/>
          </a:xfrm>
          <a:prstGeom prst="rect">
            <a:avLst/>
          </a:prstGeom>
        </p:spPr>
        <p:txBody>
          <a:bodyPr anchor="t" rtlCol="false" tIns="0" lIns="0" bIns="0" rIns="0">
            <a:spAutoFit/>
          </a:bodyPr>
          <a:lstStyle/>
          <a:p>
            <a:pPr algn="l">
              <a:lnSpc>
                <a:spcPts val="6299"/>
              </a:lnSpc>
              <a:spcBef>
                <a:spcPct val="0"/>
              </a:spcBef>
            </a:pPr>
            <a:r>
              <a:rPr lang="en-US" b="true" sz="4499">
                <a:solidFill>
                  <a:srgbClr val="022D66"/>
                </a:solidFill>
                <a:latin typeface="Fraunces Bold"/>
                <a:ea typeface="Fraunces Bold"/>
                <a:cs typeface="Fraunces Bold"/>
                <a:sym typeface="Fraunces Bold"/>
              </a:rPr>
              <a:t>01</a:t>
            </a:r>
          </a:p>
        </p:txBody>
      </p:sp>
      <p:sp>
        <p:nvSpPr>
          <p:cNvPr name="TextBox 22" id="22"/>
          <p:cNvSpPr txBox="true"/>
          <p:nvPr/>
        </p:nvSpPr>
        <p:spPr>
          <a:xfrm rot="0">
            <a:off x="1488775" y="4182010"/>
            <a:ext cx="8433406" cy="772794"/>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Work Sans"/>
                <a:ea typeface="Work Sans"/>
                <a:cs typeface="Work Sans"/>
                <a:sym typeface="Work Sans"/>
              </a:rPr>
              <a:t>Il drone esp32 fa da sonda di ricognizione come veicolo aereo per sondare zone non accessibili via terra.</a:t>
            </a:r>
          </a:p>
        </p:txBody>
      </p:sp>
      <p:sp>
        <p:nvSpPr>
          <p:cNvPr name="TextBox 23" id="23"/>
          <p:cNvSpPr txBox="true"/>
          <p:nvPr/>
        </p:nvSpPr>
        <p:spPr>
          <a:xfrm rot="0">
            <a:off x="2509649" y="3620034"/>
            <a:ext cx="2668386" cy="495301"/>
          </a:xfrm>
          <a:prstGeom prst="rect">
            <a:avLst/>
          </a:prstGeom>
        </p:spPr>
        <p:txBody>
          <a:bodyPr anchor="t" rtlCol="false" tIns="0" lIns="0" bIns="0" rIns="0">
            <a:spAutoFit/>
          </a:bodyPr>
          <a:lstStyle/>
          <a:p>
            <a:pPr algn="l">
              <a:lnSpc>
                <a:spcPts val="4199"/>
              </a:lnSpc>
              <a:spcBef>
                <a:spcPct val="0"/>
              </a:spcBef>
            </a:pPr>
            <a:r>
              <a:rPr lang="en-US" sz="2999">
                <a:solidFill>
                  <a:srgbClr val="404A9D"/>
                </a:solidFill>
                <a:latin typeface="Fraunces"/>
                <a:ea typeface="Fraunces"/>
                <a:cs typeface="Fraunces"/>
                <a:sym typeface="Fraunces"/>
              </a:rPr>
              <a:t>ESP32-Drone</a:t>
            </a:r>
          </a:p>
        </p:txBody>
      </p:sp>
      <p:sp>
        <p:nvSpPr>
          <p:cNvPr name="TextBox 24" id="24"/>
          <p:cNvSpPr txBox="true"/>
          <p:nvPr/>
        </p:nvSpPr>
        <p:spPr>
          <a:xfrm rot="0">
            <a:off x="10109255" y="5993266"/>
            <a:ext cx="817262" cy="762001"/>
          </a:xfrm>
          <a:prstGeom prst="rect">
            <a:avLst/>
          </a:prstGeom>
        </p:spPr>
        <p:txBody>
          <a:bodyPr anchor="t" rtlCol="false" tIns="0" lIns="0" bIns="0" rIns="0">
            <a:spAutoFit/>
          </a:bodyPr>
          <a:lstStyle/>
          <a:p>
            <a:pPr algn="l">
              <a:lnSpc>
                <a:spcPts val="6299"/>
              </a:lnSpc>
              <a:spcBef>
                <a:spcPct val="0"/>
              </a:spcBef>
            </a:pPr>
            <a:r>
              <a:rPr lang="en-US" b="true" sz="4499">
                <a:solidFill>
                  <a:srgbClr val="022D66"/>
                </a:solidFill>
                <a:latin typeface="Fraunces Bold"/>
                <a:ea typeface="Fraunces Bold"/>
                <a:cs typeface="Fraunces Bold"/>
                <a:sym typeface="Fraunces Bold"/>
              </a:rPr>
              <a:t>02</a:t>
            </a:r>
          </a:p>
        </p:txBody>
      </p:sp>
      <p:sp>
        <p:nvSpPr>
          <p:cNvPr name="TextBox 25" id="25"/>
          <p:cNvSpPr txBox="true"/>
          <p:nvPr/>
        </p:nvSpPr>
        <p:spPr>
          <a:xfrm rot="0">
            <a:off x="10360122" y="6892384"/>
            <a:ext cx="5916130" cy="2365916"/>
          </a:xfrm>
          <a:prstGeom prst="rect">
            <a:avLst/>
          </a:prstGeom>
        </p:spPr>
        <p:txBody>
          <a:bodyPr anchor="t" rtlCol="false" tIns="0" lIns="0" bIns="0" rIns="0">
            <a:spAutoFit/>
          </a:bodyPr>
          <a:lstStyle/>
          <a:p>
            <a:pPr algn="l">
              <a:lnSpc>
                <a:spcPts val="3812"/>
              </a:lnSpc>
              <a:spcBef>
                <a:spcPct val="0"/>
              </a:spcBef>
            </a:pPr>
            <a:r>
              <a:rPr lang="en-US" sz="2723">
                <a:solidFill>
                  <a:srgbClr val="000000"/>
                </a:solidFill>
                <a:latin typeface="Work Sans"/>
                <a:ea typeface="Work Sans"/>
                <a:cs typeface="Work Sans"/>
                <a:sym typeface="Work Sans"/>
              </a:rPr>
              <a:t>Ne abbiamo utilizzato uno precostruito a causa dei costi elevati nello svilupparne uno da zero e per la complicatezza non necessaria per il suo scopo reale</a:t>
            </a:r>
          </a:p>
        </p:txBody>
      </p:sp>
      <p:sp>
        <p:nvSpPr>
          <p:cNvPr name="TextBox 26" id="26"/>
          <p:cNvSpPr txBox="true"/>
          <p:nvPr/>
        </p:nvSpPr>
        <p:spPr>
          <a:xfrm rot="0">
            <a:off x="11130130" y="6145666"/>
            <a:ext cx="4250815" cy="495301"/>
          </a:xfrm>
          <a:prstGeom prst="rect">
            <a:avLst/>
          </a:prstGeom>
        </p:spPr>
        <p:txBody>
          <a:bodyPr anchor="t" rtlCol="false" tIns="0" lIns="0" bIns="0" rIns="0">
            <a:spAutoFit/>
          </a:bodyPr>
          <a:lstStyle/>
          <a:p>
            <a:pPr algn="l">
              <a:lnSpc>
                <a:spcPts val="4199"/>
              </a:lnSpc>
              <a:spcBef>
                <a:spcPct val="0"/>
              </a:spcBef>
            </a:pPr>
            <a:r>
              <a:rPr lang="en-US" sz="2999">
                <a:solidFill>
                  <a:srgbClr val="404A9D"/>
                </a:solidFill>
                <a:latin typeface="Fraunces"/>
                <a:ea typeface="Fraunces"/>
                <a:cs typeface="Fraunces"/>
                <a:sym typeface="Fraunces"/>
              </a:rPr>
              <a:t>Perchè precostruito?</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41679" y="4283951"/>
            <a:ext cx="12767522" cy="2014374"/>
          </a:xfrm>
          <a:prstGeom prst="rect">
            <a:avLst/>
          </a:prstGeom>
        </p:spPr>
        <p:txBody>
          <a:bodyPr anchor="t" rtlCol="false" tIns="0" lIns="0" bIns="0" rIns="0">
            <a:spAutoFit/>
          </a:bodyPr>
          <a:lstStyle/>
          <a:p>
            <a:pPr algn="l">
              <a:lnSpc>
                <a:spcPts val="15181"/>
              </a:lnSpc>
            </a:pPr>
            <a:r>
              <a:rPr lang="en-US" b="true" sz="15181">
                <a:solidFill>
                  <a:srgbClr val="404A9D"/>
                </a:solidFill>
                <a:latin typeface="Fraunces Bold"/>
                <a:ea typeface="Fraunces Bold"/>
                <a:cs typeface="Fraunces Bold"/>
                <a:sym typeface="Fraunce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DAHLcZkROL4</dc:identifier>
  <dcterms:modified xsi:type="dcterms:W3CDTF">2011-08-01T06:04:30Z</dcterms:modified>
  <cp:revision>1</cp:revision>
  <dc:title>LagmaBills</dc:title>
</cp:coreProperties>
</file>